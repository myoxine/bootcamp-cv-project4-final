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11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rgbClr val="16B7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64778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car</c:v>
                  </c:pt>
                  <c:pt idx="1">
                    <c:v>motorcycle</c:v>
                  </c:pt>
                  <c:pt idx="2">
                    <c:v>bus</c:v>
                  </c:pt>
                  <c:pt idx="3">
                    <c:v>truck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7153</c:v>
                </c:pt>
                <c:pt idx="1">
                  <c:v>1316</c:v>
                </c:pt>
                <c:pt idx="2">
                  <c:v>1080</c:v>
                </c:pt>
                <c:pt idx="3">
                  <c:v>1680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64778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car</c:v>
                  </c:pt>
                  <c:pt idx="1">
                    <c:v>motorcycle</c:v>
                  </c:pt>
                  <c:pt idx="2">
                    <c:v>bus</c:v>
                  </c:pt>
                  <c:pt idx="3">
                    <c:v>truck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1228</c:v>
                </c:pt>
                <c:pt idx="1">
                  <c:v>205</c:v>
                </c:pt>
                <c:pt idx="2">
                  <c:v>175</c:v>
                </c:pt>
                <c:pt idx="3">
                  <c:v>265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64778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7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7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64778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%</c:v>
                </c:pt>
              </c:strCache>
            </c:strRef>
          </c:tx>
          <c:spPr>
            <a:solidFill>
              <a:srgbClr val="16B7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64778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car</c:v>
                  </c:pt>
                  <c:pt idx="1">
                    <c:v>motorcycle</c:v>
                  </c:pt>
                  <c:pt idx="2">
                    <c:v>bus</c:v>
                  </c:pt>
                  <c:pt idx="3">
                    <c:v>truck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17</c:v>
                </c:pt>
                <c:pt idx="2">
                  <c:v>27</c:v>
                </c:pt>
                <c:pt idx="3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64778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7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6350" cap="flat">
              <a:solidFill>
                <a:srgbClr val="DC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7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E1B2B"/>
                </a:solidFill>
                <a:latin typeface="Trebuchet MS"/>
              </a:defRPr>
            </a:pPr>
            <a:r>
              <a:rPr sz="1300" b="0" i="0" u="none" strike="noStrike">
                <a:solidFill>
                  <a:srgbClr val="0E1B2B"/>
                </a:solidFill>
                <a:latin typeface="Trebuchet MS"/>
              </a:rPr>
              <a:t>mAP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mAP50</c:v>
                </c:pt>
              </c:strCache>
            </c:strRef>
          </c:tx>
          <c:spPr>
            <a:solidFill>
              <a:srgbClr val="16B7C4"/>
            </a:solidFill>
            <a:ln w="38100" cap="flat">
              <a:solidFill>
                <a:srgbClr val="16B7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B7C4"/>
              </a:solidFill>
              <a:ln w="9525" cap="flat">
                <a:solidFill>
                  <a:srgbClr val="16B7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</c:v>
                  </c:pt>
                  <c:pt idx="1">
                    <c:v>6</c:v>
                  </c:pt>
                  <c:pt idx="2">
                    <c:v>12</c:v>
                  </c:pt>
                  <c:pt idx="3">
                    <c:v>18</c:v>
                  </c:pt>
                  <c:pt idx="4">
                    <c:v>24</c:v>
                  </c:pt>
                  <c:pt idx="5">
                    <c:v>30</c:v>
                  </c:pt>
                  <c:pt idx="6">
                    <c:v>36</c:v>
                  </c:pt>
                  <c:pt idx="7">
                    <c:v>42</c:v>
                  </c:pt>
                  <c:pt idx="8">
                    <c:v>48</c:v>
                  </c:pt>
                  <c:pt idx="9">
                    <c:v>54</c:v>
                  </c:pt>
                  <c:pt idx="10">
                    <c:v>60</c:v>
                  </c:pt>
                  <c:pt idx="11">
                    <c:v>66</c:v>
                  </c:pt>
                  <c:pt idx="12">
                    <c:v>72</c:v>
                  </c:pt>
                  <c:pt idx="13">
                    <c:v>78</c:v>
                  </c:pt>
                  <c:pt idx="14">
                    <c:v>83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0.376</c:v>
                </c:pt>
                <c:pt idx="1">
                  <c:v>0.4</c:v>
                </c:pt>
                <c:pt idx="2">
                  <c:v>0.492</c:v>
                </c:pt>
                <c:pt idx="3">
                  <c:v>0.52</c:v>
                </c:pt>
                <c:pt idx="4">
                  <c:v>0.534</c:v>
                </c:pt>
                <c:pt idx="5">
                  <c:v>0.577</c:v>
                </c:pt>
                <c:pt idx="6">
                  <c:v>0.571</c:v>
                </c:pt>
                <c:pt idx="7">
                  <c:v>0.556</c:v>
                </c:pt>
                <c:pt idx="8">
                  <c:v>0.565</c:v>
                </c:pt>
                <c:pt idx="9">
                  <c:v>0.589</c:v>
                </c:pt>
                <c:pt idx="10">
                  <c:v>0.583</c:v>
                </c:pt>
                <c:pt idx="11">
                  <c:v>0.57</c:v>
                </c:pt>
                <c:pt idx="12">
                  <c:v>0.576</c:v>
                </c:pt>
                <c:pt idx="13">
                  <c:v>0.586</c:v>
                </c:pt>
                <c:pt idx="14">
                  <c:v>0.587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mAP50-95</c:v>
                </c:pt>
              </c:strCache>
            </c:strRef>
          </c:tx>
          <c:spPr>
            <a:solidFill>
              <a:srgbClr val="F5A623"/>
            </a:solidFill>
            <a:ln w="38100" cap="flat">
              <a:solidFill>
                <a:srgbClr val="F5A6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</c:v>
                  </c:pt>
                  <c:pt idx="1">
                    <c:v>6</c:v>
                  </c:pt>
                  <c:pt idx="2">
                    <c:v>12</c:v>
                  </c:pt>
                  <c:pt idx="3">
                    <c:v>18</c:v>
                  </c:pt>
                  <c:pt idx="4">
                    <c:v>24</c:v>
                  </c:pt>
                  <c:pt idx="5">
                    <c:v>30</c:v>
                  </c:pt>
                  <c:pt idx="6">
                    <c:v>36</c:v>
                  </c:pt>
                  <c:pt idx="7">
                    <c:v>42</c:v>
                  </c:pt>
                  <c:pt idx="8">
                    <c:v>48</c:v>
                  </c:pt>
                  <c:pt idx="9">
                    <c:v>54</c:v>
                  </c:pt>
                  <c:pt idx="10">
                    <c:v>60</c:v>
                  </c:pt>
                  <c:pt idx="11">
                    <c:v>66</c:v>
                  </c:pt>
                  <c:pt idx="12">
                    <c:v>72</c:v>
                  </c:pt>
                  <c:pt idx="13">
                    <c:v>78</c:v>
                  </c:pt>
                  <c:pt idx="14">
                    <c:v>83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0.23</c:v>
                </c:pt>
                <c:pt idx="1">
                  <c:v>0.239</c:v>
                </c:pt>
                <c:pt idx="2">
                  <c:v>0.314</c:v>
                </c:pt>
                <c:pt idx="3">
                  <c:v>0.326</c:v>
                </c:pt>
                <c:pt idx="4">
                  <c:v>0.35</c:v>
                </c:pt>
                <c:pt idx="5">
                  <c:v>0.376</c:v>
                </c:pt>
                <c:pt idx="6">
                  <c:v>0.377</c:v>
                </c:pt>
                <c:pt idx="7">
                  <c:v>0.373</c:v>
                </c:pt>
                <c:pt idx="8">
                  <c:v>0.373</c:v>
                </c:pt>
                <c:pt idx="9">
                  <c:v>0.386</c:v>
                </c:pt>
                <c:pt idx="10">
                  <c:v>0.385</c:v>
                </c:pt>
                <c:pt idx="11">
                  <c:v>0.376</c:v>
                </c:pt>
                <c:pt idx="12">
                  <c:v>0.383</c:v>
                </c:pt>
                <c:pt idx="13">
                  <c:v>0.382</c:v>
                </c:pt>
                <c:pt idx="14">
                  <c:v>0.386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7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"/>
        </c:scaling>
        <c:delete val="0"/>
        <c:axPos val="l"/>
        <c:majorGridlines>
          <c:spPr>
            <a:ln w="6350" cap="flat">
              <a:solidFill>
                <a:srgbClr val="DC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7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78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E1B2B"/>
                </a:solidFill>
                <a:latin typeface="Trebuchet MS"/>
              </a:defRPr>
            </a:pPr>
            <a:r>
              <a:rPr sz="1300" b="0" i="0" u="none" strike="noStrike">
                <a:solidFill>
                  <a:srgbClr val="0E1B2B"/>
                </a:solidFill>
                <a:latin typeface="Trebuchet MS"/>
              </a:rPr>
              <a:t>Precision &amp; Recall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0E1B2B"/>
            </a:solidFill>
            <a:ln w="38100" cap="flat">
              <a:solidFill>
                <a:srgbClr val="0E1B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1B2B"/>
              </a:solidFill>
              <a:ln w="9525" cap="flat">
                <a:solidFill>
                  <a:srgbClr val="0E1B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</c:v>
                  </c:pt>
                  <c:pt idx="1">
                    <c:v>6</c:v>
                  </c:pt>
                  <c:pt idx="2">
                    <c:v>12</c:v>
                  </c:pt>
                  <c:pt idx="3">
                    <c:v>18</c:v>
                  </c:pt>
                  <c:pt idx="4">
                    <c:v>24</c:v>
                  </c:pt>
                  <c:pt idx="5">
                    <c:v>30</c:v>
                  </c:pt>
                  <c:pt idx="6">
                    <c:v>36</c:v>
                  </c:pt>
                  <c:pt idx="7">
                    <c:v>42</c:v>
                  </c:pt>
                  <c:pt idx="8">
                    <c:v>48</c:v>
                  </c:pt>
                  <c:pt idx="9">
                    <c:v>54</c:v>
                  </c:pt>
                  <c:pt idx="10">
                    <c:v>60</c:v>
                  </c:pt>
                  <c:pt idx="11">
                    <c:v>66</c:v>
                  </c:pt>
                  <c:pt idx="12">
                    <c:v>72</c:v>
                  </c:pt>
                  <c:pt idx="13">
                    <c:v>78</c:v>
                  </c:pt>
                  <c:pt idx="14">
                    <c:v>83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0.491</c:v>
                </c:pt>
                <c:pt idx="1">
                  <c:v>0.495</c:v>
                </c:pt>
                <c:pt idx="2">
                  <c:v>0.577</c:v>
                </c:pt>
                <c:pt idx="3">
                  <c:v>0.605</c:v>
                </c:pt>
                <c:pt idx="4">
                  <c:v>0.596</c:v>
                </c:pt>
                <c:pt idx="5">
                  <c:v>0.652</c:v>
                </c:pt>
                <c:pt idx="6">
                  <c:v>0.648</c:v>
                </c:pt>
                <c:pt idx="7">
                  <c:v>0.605</c:v>
                </c:pt>
                <c:pt idx="8">
                  <c:v>0.723</c:v>
                </c:pt>
                <c:pt idx="9">
                  <c:v>0.645</c:v>
                </c:pt>
                <c:pt idx="10">
                  <c:v>0.672</c:v>
                </c:pt>
                <c:pt idx="11">
                  <c:v>0.687</c:v>
                </c:pt>
                <c:pt idx="12">
                  <c:v>0.696</c:v>
                </c:pt>
                <c:pt idx="13">
                  <c:v>0.688</c:v>
                </c:pt>
                <c:pt idx="14">
                  <c:v>0.695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F5A623"/>
            </a:solidFill>
            <a:ln w="38100" cap="flat">
              <a:solidFill>
                <a:srgbClr val="F5A6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</c:v>
                  </c:pt>
                  <c:pt idx="1">
                    <c:v>6</c:v>
                  </c:pt>
                  <c:pt idx="2">
                    <c:v>12</c:v>
                  </c:pt>
                  <c:pt idx="3">
                    <c:v>18</c:v>
                  </c:pt>
                  <c:pt idx="4">
                    <c:v>24</c:v>
                  </c:pt>
                  <c:pt idx="5">
                    <c:v>30</c:v>
                  </c:pt>
                  <c:pt idx="6">
                    <c:v>36</c:v>
                  </c:pt>
                  <c:pt idx="7">
                    <c:v>42</c:v>
                  </c:pt>
                  <c:pt idx="8">
                    <c:v>48</c:v>
                  </c:pt>
                  <c:pt idx="9">
                    <c:v>54</c:v>
                  </c:pt>
                  <c:pt idx="10">
                    <c:v>60</c:v>
                  </c:pt>
                  <c:pt idx="11">
                    <c:v>66</c:v>
                  </c:pt>
                  <c:pt idx="12">
                    <c:v>72</c:v>
                  </c:pt>
                  <c:pt idx="13">
                    <c:v>78</c:v>
                  </c:pt>
                  <c:pt idx="14">
                    <c:v>83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0.391</c:v>
                </c:pt>
                <c:pt idx="1">
                  <c:v>0.394</c:v>
                </c:pt>
                <c:pt idx="2">
                  <c:v>0.45</c:v>
                </c:pt>
                <c:pt idx="3">
                  <c:v>0.478</c:v>
                </c:pt>
                <c:pt idx="4">
                  <c:v>0.495</c:v>
                </c:pt>
                <c:pt idx="5">
                  <c:v>0.526</c:v>
                </c:pt>
                <c:pt idx="6">
                  <c:v>0.517</c:v>
                </c:pt>
                <c:pt idx="7">
                  <c:v>0.517</c:v>
                </c:pt>
                <c:pt idx="8">
                  <c:v>0.495</c:v>
                </c:pt>
                <c:pt idx="9">
                  <c:v>0.559</c:v>
                </c:pt>
                <c:pt idx="10">
                  <c:v>0.527</c:v>
                </c:pt>
                <c:pt idx="11">
                  <c:v>0.519</c:v>
                </c:pt>
                <c:pt idx="12">
                  <c:v>0.509</c:v>
                </c:pt>
                <c:pt idx="13">
                  <c:v>0.549</c:v>
                </c:pt>
                <c:pt idx="14">
                  <c:v>0.551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7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.3"/>
        </c:scaling>
        <c:delete val="0"/>
        <c:axPos val="l"/>
        <c:majorGridlines>
          <c:spPr>
            <a:ln w="6350" cap="flat">
              <a:solidFill>
                <a:srgbClr val="DC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7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78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E1B2B"/>
                </a:solidFill>
                <a:latin typeface="Trebuchet MS"/>
              </a:defRPr>
            </a:pPr>
            <a:r>
              <a:rPr sz="1100" b="0" i="0" u="none" strike="noStrike">
                <a:solidFill>
                  <a:srgbClr val="0E1B2B"/>
                </a:solidFill>
                <a:latin typeface="Trebuchet MS"/>
              </a:rPr>
              <a:t>train/box_loss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train/box_loss</c:v>
                </c:pt>
              </c:strCache>
            </c:strRef>
          </c:tx>
          <c:spPr>
            <a:solidFill>
              <a:srgbClr val="16B7C4"/>
            </a:solidFill>
            <a:ln w="25400" cap="flat">
              <a:solidFill>
                <a:srgbClr val="16B7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B7C4"/>
              </a:solidFill>
              <a:ln w="9525" cap="flat">
                <a:solidFill>
                  <a:srgbClr val="16B7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4</c:v>
                  </c:pt>
                  <c:pt idx="2">
                    <c:v>10</c:v>
                  </c:pt>
                  <c:pt idx="3">
                    <c:v>20</c:v>
                  </c:pt>
                  <c:pt idx="4">
                    <c:v>30</c:v>
                  </c:pt>
                  <c:pt idx="5">
                    <c:v>40</c:v>
                  </c:pt>
                  <c:pt idx="6">
                    <c:v>50</c:v>
                  </c:pt>
                  <c:pt idx="7">
                    <c:v>60</c:v>
                  </c:pt>
                  <c:pt idx="8">
                    <c:v>70</c:v>
                  </c:pt>
                  <c:pt idx="9">
                    <c:v>83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1.237</c:v>
                </c:pt>
                <c:pt idx="1">
                  <c:v>1.497</c:v>
                </c:pt>
                <c:pt idx="2">
                  <c:v>1.327</c:v>
                </c:pt>
                <c:pt idx="3">
                  <c:v>1.206</c:v>
                </c:pt>
                <c:pt idx="4">
                  <c:v>1.111</c:v>
                </c:pt>
                <c:pt idx="5">
                  <c:v>1.039</c:v>
                </c:pt>
                <c:pt idx="6">
                  <c:v>0.9916</c:v>
                </c:pt>
                <c:pt idx="7">
                  <c:v>0.9538</c:v>
                </c:pt>
                <c:pt idx="8">
                  <c:v>0.8937</c:v>
                </c:pt>
                <c:pt idx="9">
                  <c:v>0.8404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7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7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E1B2B"/>
                </a:solidFill>
                <a:latin typeface="Trebuchet MS"/>
              </a:defRPr>
            </a:pPr>
            <a:r>
              <a:rPr sz="1100" b="0" i="0" u="none" strike="noStrike">
                <a:solidFill>
                  <a:srgbClr val="0E1B2B"/>
                </a:solidFill>
                <a:latin typeface="Trebuchet MS"/>
              </a:rPr>
              <a:t>train/cls_loss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train/cls_loss</c:v>
                </c:pt>
              </c:strCache>
            </c:strRef>
          </c:tx>
          <c:spPr>
            <a:solidFill>
              <a:srgbClr val="16B7C4"/>
            </a:solidFill>
            <a:ln w="25400" cap="flat">
              <a:solidFill>
                <a:srgbClr val="16B7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B7C4"/>
              </a:solidFill>
              <a:ln w="9525" cap="flat">
                <a:solidFill>
                  <a:srgbClr val="16B7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4</c:v>
                  </c:pt>
                  <c:pt idx="2">
                    <c:v>10</c:v>
                  </c:pt>
                  <c:pt idx="3">
                    <c:v>20</c:v>
                  </c:pt>
                  <c:pt idx="4">
                    <c:v>30</c:v>
                  </c:pt>
                  <c:pt idx="5">
                    <c:v>40</c:v>
                  </c:pt>
                  <c:pt idx="6">
                    <c:v>50</c:v>
                  </c:pt>
                  <c:pt idx="7">
                    <c:v>60</c:v>
                  </c:pt>
                  <c:pt idx="8">
                    <c:v>70</c:v>
                  </c:pt>
                  <c:pt idx="9">
                    <c:v>83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1.763</c:v>
                </c:pt>
                <c:pt idx="1">
                  <c:v>1.826</c:v>
                </c:pt>
                <c:pt idx="2">
                  <c:v>1.473</c:v>
                </c:pt>
                <c:pt idx="3">
                  <c:v>1.252</c:v>
                </c:pt>
                <c:pt idx="4">
                  <c:v>1.085</c:v>
                </c:pt>
                <c:pt idx="5">
                  <c:v>0.956</c:v>
                </c:pt>
                <c:pt idx="6">
                  <c:v>0.8544</c:v>
                </c:pt>
                <c:pt idx="7">
                  <c:v>0.7823</c:v>
                </c:pt>
                <c:pt idx="8">
                  <c:v>0.6952</c:v>
                </c:pt>
                <c:pt idx="9">
                  <c:v>0.6312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7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7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E1B2B"/>
                </a:solidFill>
                <a:latin typeface="Trebuchet MS"/>
              </a:defRPr>
            </a:pPr>
            <a:r>
              <a:rPr sz="1100" b="0" i="0" u="none" strike="noStrike">
                <a:solidFill>
                  <a:srgbClr val="0E1B2B"/>
                </a:solidFill>
                <a:latin typeface="Trebuchet MS"/>
              </a:rPr>
              <a:t>train/dfl_loss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train/dfl_loss</c:v>
                </c:pt>
              </c:strCache>
            </c:strRef>
          </c:tx>
          <c:spPr>
            <a:solidFill>
              <a:srgbClr val="16B7C4"/>
            </a:solidFill>
            <a:ln w="25400" cap="flat">
              <a:solidFill>
                <a:srgbClr val="16B7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B7C4"/>
              </a:solidFill>
              <a:ln w="9525" cap="flat">
                <a:solidFill>
                  <a:srgbClr val="16B7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4</c:v>
                  </c:pt>
                  <c:pt idx="2">
                    <c:v>10</c:v>
                  </c:pt>
                  <c:pt idx="3">
                    <c:v>20</c:v>
                  </c:pt>
                  <c:pt idx="4">
                    <c:v>30</c:v>
                  </c:pt>
                  <c:pt idx="5">
                    <c:v>40</c:v>
                  </c:pt>
                  <c:pt idx="6">
                    <c:v>50</c:v>
                  </c:pt>
                  <c:pt idx="7">
                    <c:v>60</c:v>
                  </c:pt>
                  <c:pt idx="8">
                    <c:v>70</c:v>
                  </c:pt>
                  <c:pt idx="9">
                    <c:v>83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1.233</c:v>
                </c:pt>
                <c:pt idx="1">
                  <c:v>1.403</c:v>
                </c:pt>
                <c:pt idx="2">
                  <c:v>1.291</c:v>
                </c:pt>
                <c:pt idx="3">
                  <c:v>1.214</c:v>
                </c:pt>
                <c:pt idx="4">
                  <c:v>1.155</c:v>
                </c:pt>
                <c:pt idx="5">
                  <c:v>1.117</c:v>
                </c:pt>
                <c:pt idx="6">
                  <c:v>1.082</c:v>
                </c:pt>
                <c:pt idx="7">
                  <c:v>1.059</c:v>
                </c:pt>
                <c:pt idx="8">
                  <c:v>1.019</c:v>
                </c:pt>
                <c:pt idx="9">
                  <c:v>0.9954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7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7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E1B2B"/>
                </a:solidFill>
                <a:latin typeface="Trebuchet MS"/>
              </a:defRPr>
            </a:pPr>
            <a:r>
              <a:rPr sz="1100" b="0" i="0" u="none" strike="noStrike">
                <a:solidFill>
                  <a:srgbClr val="0E1B2B"/>
                </a:solidFill>
                <a:latin typeface="Trebuchet MS"/>
              </a:rPr>
              <a:t>val/box_loss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val/box_loss</c:v>
                </c:pt>
              </c:strCache>
            </c:strRef>
          </c:tx>
          <c:spPr>
            <a:solidFill>
              <a:srgbClr val="F5A623"/>
            </a:solidFill>
            <a:ln w="25400" cap="flat">
              <a:solidFill>
                <a:srgbClr val="F5A6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4</c:v>
                  </c:pt>
                  <c:pt idx="2">
                    <c:v>10</c:v>
                  </c:pt>
                  <c:pt idx="3">
                    <c:v>20</c:v>
                  </c:pt>
                  <c:pt idx="4">
                    <c:v>30</c:v>
                  </c:pt>
                  <c:pt idx="5">
                    <c:v>40</c:v>
                  </c:pt>
                  <c:pt idx="6">
                    <c:v>50</c:v>
                  </c:pt>
                  <c:pt idx="7">
                    <c:v>60</c:v>
                  </c:pt>
                  <c:pt idx="8">
                    <c:v>70</c:v>
                  </c:pt>
                  <c:pt idx="9">
                    <c:v>83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1.39</c:v>
                </c:pt>
                <c:pt idx="1">
                  <c:v>1.55</c:v>
                </c:pt>
                <c:pt idx="2">
                  <c:v>1.42</c:v>
                </c:pt>
                <c:pt idx="3">
                  <c:v>1.3</c:v>
                </c:pt>
                <c:pt idx="4">
                  <c:v>1.27</c:v>
                </c:pt>
                <c:pt idx="5">
                  <c:v>1.25</c:v>
                </c:pt>
                <c:pt idx="6">
                  <c:v>1.24</c:v>
                </c:pt>
                <c:pt idx="7">
                  <c:v>1.245</c:v>
                </c:pt>
                <c:pt idx="8">
                  <c:v>1.25</c:v>
                </c:pt>
                <c:pt idx="9">
                  <c:v>1.245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7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7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E1B2B"/>
                </a:solidFill>
                <a:latin typeface="Trebuchet MS"/>
              </a:defRPr>
            </a:pPr>
            <a:r>
              <a:rPr sz="1100" b="0" i="0" u="none" strike="noStrike">
                <a:solidFill>
                  <a:srgbClr val="0E1B2B"/>
                </a:solidFill>
                <a:latin typeface="Trebuchet MS"/>
              </a:rPr>
              <a:t>val/cls_loss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val/cls_loss</c:v>
                </c:pt>
              </c:strCache>
            </c:strRef>
          </c:tx>
          <c:spPr>
            <a:solidFill>
              <a:srgbClr val="F5A623"/>
            </a:solidFill>
            <a:ln w="25400" cap="flat">
              <a:solidFill>
                <a:srgbClr val="F5A6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4</c:v>
                  </c:pt>
                  <c:pt idx="2">
                    <c:v>10</c:v>
                  </c:pt>
                  <c:pt idx="3">
                    <c:v>20</c:v>
                  </c:pt>
                  <c:pt idx="4">
                    <c:v>30</c:v>
                  </c:pt>
                  <c:pt idx="5">
                    <c:v>40</c:v>
                  </c:pt>
                  <c:pt idx="6">
                    <c:v>50</c:v>
                  </c:pt>
                  <c:pt idx="7">
                    <c:v>60</c:v>
                  </c:pt>
                  <c:pt idx="8">
                    <c:v>70</c:v>
                  </c:pt>
                  <c:pt idx="9">
                    <c:v>83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1.84</c:v>
                </c:pt>
                <c:pt idx="1">
                  <c:v>1.87</c:v>
                </c:pt>
                <c:pt idx="2">
                  <c:v>1.65</c:v>
                </c:pt>
                <c:pt idx="3">
                  <c:v>1.3</c:v>
                </c:pt>
                <c:pt idx="4">
                  <c:v>1.25</c:v>
                </c:pt>
                <c:pt idx="5">
                  <c:v>1.22</c:v>
                </c:pt>
                <c:pt idx="6">
                  <c:v>1.21</c:v>
                </c:pt>
                <c:pt idx="7">
                  <c:v>1.215</c:v>
                </c:pt>
                <c:pt idx="8">
                  <c:v>1.22</c:v>
                </c:pt>
                <c:pt idx="9">
                  <c:v>1.22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7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7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E1B2B"/>
                </a:solidFill>
                <a:latin typeface="Trebuchet MS"/>
              </a:defRPr>
            </a:pPr>
            <a:r>
              <a:rPr sz="1100" b="0" i="0" u="none" strike="noStrike">
                <a:solidFill>
                  <a:srgbClr val="0E1B2B"/>
                </a:solidFill>
                <a:latin typeface="Trebuchet MS"/>
              </a:rPr>
              <a:t>val/dfl_loss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val/dfl_loss</c:v>
                </c:pt>
              </c:strCache>
            </c:strRef>
          </c:tx>
          <c:spPr>
            <a:solidFill>
              <a:srgbClr val="F5A623"/>
            </a:solidFill>
            <a:ln w="25400" cap="flat">
              <a:solidFill>
                <a:srgbClr val="F5A6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4</c:v>
                  </c:pt>
                  <c:pt idx="2">
                    <c:v>10</c:v>
                  </c:pt>
                  <c:pt idx="3">
                    <c:v>20</c:v>
                  </c:pt>
                  <c:pt idx="4">
                    <c:v>30</c:v>
                  </c:pt>
                  <c:pt idx="5">
                    <c:v>40</c:v>
                  </c:pt>
                  <c:pt idx="6">
                    <c:v>50</c:v>
                  </c:pt>
                  <c:pt idx="7">
                    <c:v>60</c:v>
                  </c:pt>
                  <c:pt idx="8">
                    <c:v>70</c:v>
                  </c:pt>
                  <c:pt idx="9">
                    <c:v>83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1.34</c:v>
                </c:pt>
                <c:pt idx="1">
                  <c:v>1.44</c:v>
                </c:pt>
                <c:pt idx="2">
                  <c:v>1.34</c:v>
                </c:pt>
                <c:pt idx="3">
                  <c:v>1.26</c:v>
                </c:pt>
                <c:pt idx="4">
                  <c:v>1.235</c:v>
                </c:pt>
                <c:pt idx="5">
                  <c:v>1.225</c:v>
                </c:pt>
                <c:pt idx="6">
                  <c:v>1.22</c:v>
                </c:pt>
                <c:pt idx="7">
                  <c:v>1.225</c:v>
                </c:pt>
                <c:pt idx="8">
                  <c:v>1.23</c:v>
                </c:pt>
                <c:pt idx="9">
                  <c:v>1.225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7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7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motor</c:v>
                </c:pt>
              </c:strCache>
            </c:strRef>
          </c:tx>
          <c:spPr>
            <a:solidFill>
              <a:srgbClr val="16B7C4"/>
            </a:solidFill>
            <a:ln w="25400" cap="flat">
              <a:solidFill>
                <a:srgbClr val="16B7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B7C4"/>
              </a:solidFill>
              <a:ln w="9525" cap="flat">
                <a:solidFill>
                  <a:srgbClr val="16B7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19:00</c:v>
                  </c:pt>
                  <c:pt idx="1">
                    <c:v>20:00</c:v>
                  </c:pt>
                  <c:pt idx="2">
                    <c:v>21:00</c:v>
                  </c:pt>
                  <c:pt idx="3">
                    <c:v>22:00</c:v>
                  </c:pt>
                  <c:pt idx="4">
                    <c:v>23:00</c:v>
                  </c:pt>
                  <c:pt idx="5">
                    <c:v>00:00</c:v>
                  </c:pt>
                  <c:pt idx="6">
                    <c:v>01:00</c:v>
                  </c:pt>
                  <c:pt idx="7">
                    <c:v>02:00</c:v>
                  </c:pt>
                  <c:pt idx="8">
                    <c:v>17:00</c:v>
                  </c:pt>
                  <c:pt idx="9">
                    <c:v>18:00</c:v>
                  </c:pt>
                  <c:pt idx="10">
                    <c:v>19:00</c:v>
                  </c:pt>
                  <c:pt idx="11">
                    <c:v>20:00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120</c:v>
                </c:pt>
                <c:pt idx="1">
                  <c:v>300</c:v>
                </c:pt>
                <c:pt idx="2">
                  <c:v>520</c:v>
                </c:pt>
                <c:pt idx="3">
                  <c:v>900</c:v>
                </c:pt>
                <c:pt idx="4">
                  <c:v>560</c:v>
                </c:pt>
                <c:pt idx="5">
                  <c:v>180</c:v>
                </c:pt>
                <c:pt idx="6">
                  <c:v>90</c:v>
                </c:pt>
                <c:pt idx="7">
                  <c:v>40</c:v>
                </c:pt>
                <c:pt idx="8">
                  <c:v>300</c:v>
                </c:pt>
                <c:pt idx="9">
                  <c:v>600</c:v>
                </c:pt>
                <c:pt idx="10">
                  <c:v>520</c:v>
                </c:pt>
                <c:pt idx="11">
                  <c:v>200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mobil</c:v>
                </c:pt>
              </c:strCache>
            </c:strRef>
          </c:tx>
          <c:spPr>
            <a:solidFill>
              <a:srgbClr val="37C26B"/>
            </a:solidFill>
            <a:ln w="25400" cap="flat">
              <a:solidFill>
                <a:srgbClr val="37C2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7C26B"/>
              </a:solidFill>
              <a:ln w="9525" cap="flat">
                <a:solidFill>
                  <a:srgbClr val="37C2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19:00</c:v>
                  </c:pt>
                  <c:pt idx="1">
                    <c:v>20:00</c:v>
                  </c:pt>
                  <c:pt idx="2">
                    <c:v>21:00</c:v>
                  </c:pt>
                  <c:pt idx="3">
                    <c:v>22:00</c:v>
                  </c:pt>
                  <c:pt idx="4">
                    <c:v>23:00</c:v>
                  </c:pt>
                  <c:pt idx="5">
                    <c:v>00:00</c:v>
                  </c:pt>
                  <c:pt idx="6">
                    <c:v>01:00</c:v>
                  </c:pt>
                  <c:pt idx="7">
                    <c:v>02:00</c:v>
                  </c:pt>
                  <c:pt idx="8">
                    <c:v>17:00</c:v>
                  </c:pt>
                  <c:pt idx="9">
                    <c:v>18:00</c:v>
                  </c:pt>
                  <c:pt idx="10">
                    <c:v>19:00</c:v>
                  </c:pt>
                  <c:pt idx="11">
                    <c:v>20:00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300</c:v>
                </c:pt>
                <c:pt idx="1">
                  <c:v>700</c:v>
                </c:pt>
                <c:pt idx="2">
                  <c:v>1300</c:v>
                </c:pt>
                <c:pt idx="3">
                  <c:v>2500</c:v>
                </c:pt>
                <c:pt idx="4">
                  <c:v>1400</c:v>
                </c:pt>
                <c:pt idx="5">
                  <c:v>400</c:v>
                </c:pt>
                <c:pt idx="6">
                  <c:v>150</c:v>
                </c:pt>
                <c:pt idx="7">
                  <c:v>80</c:v>
                </c:pt>
                <c:pt idx="8">
                  <c:v>800</c:v>
                </c:pt>
                <c:pt idx="9">
                  <c:v>1700</c:v>
                </c:pt>
                <c:pt idx="10">
                  <c:v>1300</c:v>
                </c:pt>
                <c:pt idx="11">
                  <c:v>500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bus</c:v>
                </c:pt>
              </c:strCache>
            </c:strRef>
          </c:tx>
          <c:spPr>
            <a:solidFill>
              <a:srgbClr val="F5A623"/>
            </a:solidFill>
            <a:ln w="25400" cap="flat">
              <a:solidFill>
                <a:srgbClr val="F5A6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19:00</c:v>
                  </c:pt>
                  <c:pt idx="1">
                    <c:v>20:00</c:v>
                  </c:pt>
                  <c:pt idx="2">
                    <c:v>21:00</c:v>
                  </c:pt>
                  <c:pt idx="3">
                    <c:v>22:00</c:v>
                  </c:pt>
                  <c:pt idx="4">
                    <c:v>23:00</c:v>
                  </c:pt>
                  <c:pt idx="5">
                    <c:v>00:00</c:v>
                  </c:pt>
                  <c:pt idx="6">
                    <c:v>01:00</c:v>
                  </c:pt>
                  <c:pt idx="7">
                    <c:v>02:00</c:v>
                  </c:pt>
                  <c:pt idx="8">
                    <c:v>17:00</c:v>
                  </c:pt>
                  <c:pt idx="9">
                    <c:v>18:00</c:v>
                  </c:pt>
                  <c:pt idx="10">
                    <c:v>19:00</c:v>
                  </c:pt>
                  <c:pt idx="11">
                    <c:v>20:00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20</c:v>
                </c:pt>
                <c:pt idx="1">
                  <c:v>40</c:v>
                </c:pt>
                <c:pt idx="2">
                  <c:v>70</c:v>
                </c:pt>
                <c:pt idx="3">
                  <c:v>120</c:v>
                </c:pt>
                <c:pt idx="4">
                  <c:v>80</c:v>
                </c:pt>
                <c:pt idx="5">
                  <c:v>30</c:v>
                </c:pt>
                <c:pt idx="6">
                  <c:v>15</c:v>
                </c:pt>
                <c:pt idx="7">
                  <c:v>8</c:v>
                </c:pt>
                <c:pt idx="8">
                  <c:v>40</c:v>
                </c:pt>
                <c:pt idx="9">
                  <c:v>90</c:v>
                </c:pt>
                <c:pt idx="10">
                  <c:v>70</c:v>
                </c:pt>
                <c:pt idx="11">
                  <c:v>30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truk</c:v>
                </c:pt>
              </c:strCache>
            </c:strRef>
          </c:tx>
          <c:spPr>
            <a:solidFill>
              <a:srgbClr val="D85A30"/>
            </a:solidFill>
            <a:ln w="25400" cap="flat">
              <a:solidFill>
                <a:srgbClr val="D85A3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85A30"/>
              </a:solidFill>
              <a:ln w="9525" cap="flat">
                <a:solidFill>
                  <a:srgbClr val="D85A3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19:00</c:v>
                  </c:pt>
                  <c:pt idx="1">
                    <c:v>20:00</c:v>
                  </c:pt>
                  <c:pt idx="2">
                    <c:v>21:00</c:v>
                  </c:pt>
                  <c:pt idx="3">
                    <c:v>22:00</c:v>
                  </c:pt>
                  <c:pt idx="4">
                    <c:v>23:00</c:v>
                  </c:pt>
                  <c:pt idx="5">
                    <c:v>00:00</c:v>
                  </c:pt>
                  <c:pt idx="6">
                    <c:v>01:00</c:v>
                  </c:pt>
                  <c:pt idx="7">
                    <c:v>02:00</c:v>
                  </c:pt>
                  <c:pt idx="8">
                    <c:v>17:00</c:v>
                  </c:pt>
                  <c:pt idx="9">
                    <c:v>18:00</c:v>
                  </c:pt>
                  <c:pt idx="10">
                    <c:v>19:00</c:v>
                  </c:pt>
                  <c:pt idx="11">
                    <c:v>20:00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30</c:v>
                </c:pt>
                <c:pt idx="1">
                  <c:v>60</c:v>
                </c:pt>
                <c:pt idx="2">
                  <c:v>110</c:v>
                </c:pt>
                <c:pt idx="3">
                  <c:v>200</c:v>
                </c:pt>
                <c:pt idx="4">
                  <c:v>130</c:v>
                </c:pt>
                <c:pt idx="5">
                  <c:v>50</c:v>
                </c:pt>
                <c:pt idx="6">
                  <c:v>20</c:v>
                </c:pt>
                <c:pt idx="7">
                  <c:v>10</c:v>
                </c:pt>
                <c:pt idx="8">
                  <c:v>70</c:v>
                </c:pt>
                <c:pt idx="9">
                  <c:v>150</c:v>
                </c:pt>
                <c:pt idx="10">
                  <c:v>110</c:v>
                </c:pt>
                <c:pt idx="11">
                  <c:v>40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7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7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64778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chart" Target="/ppt/charts/chart7.xml"/><Relationship Id="rId4" Type="http://schemas.openxmlformats.org/officeDocument/2006/relationships/chart" Target="/ppt/charts/chart8.xml"/><Relationship Id="rId5" Type="http://schemas.openxmlformats.org/officeDocument/2006/relationships/chart" Target="/ppt/charts/chart9.xml"/><Relationship Id="rId6" Type="http://schemas.openxmlformats.org/officeDocument/2006/relationships/chart" Target="/ppt/charts/chart10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1.xml"/><Relationship Id="rId1" Type="http://schemas.openxmlformats.org/officeDocument/2006/relationships/image" Target="../media/image-24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457200" cy="146304"/>
          </a:xfrm>
          <a:prstGeom prst="rect">
            <a:avLst/>
          </a:prstGeom>
          <a:solidFill>
            <a:srgbClr val="37C26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365760"/>
            <a:ext cx="146304" cy="457200"/>
          </a:xfrm>
          <a:prstGeom prst="rect">
            <a:avLst/>
          </a:prstGeom>
          <a:solidFill>
            <a:srgbClr val="37C26B"/>
          </a:solidFill>
          <a:ln/>
        </p:spPr>
      </p:sp>
      <p:sp>
        <p:nvSpPr>
          <p:cNvPr id="4" name="Shape 2"/>
          <p:cNvSpPr/>
          <p:nvPr/>
        </p:nvSpPr>
        <p:spPr>
          <a:xfrm>
            <a:off x="11323015" y="6345936"/>
            <a:ext cx="457200" cy="146304"/>
          </a:xfrm>
          <a:prstGeom prst="rect">
            <a:avLst/>
          </a:prstGeom>
          <a:solidFill>
            <a:srgbClr val="37C26B"/>
          </a:solidFill>
          <a:ln/>
        </p:spPr>
      </p:sp>
      <p:sp>
        <p:nvSpPr>
          <p:cNvPr id="5" name="Shape 3"/>
          <p:cNvSpPr/>
          <p:nvPr/>
        </p:nvSpPr>
        <p:spPr>
          <a:xfrm>
            <a:off x="11633911" y="6035040"/>
            <a:ext cx="146304" cy="457200"/>
          </a:xfrm>
          <a:prstGeom prst="rect">
            <a:avLst/>
          </a:prstGeom>
          <a:solidFill>
            <a:srgbClr val="37C26B"/>
          </a:solidFill>
          <a:ln/>
        </p:spPr>
      </p:sp>
      <p:pic>
        <p:nvPicPr>
          <p:cNvPr id="6" name="Image 0" descr="assets/cct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25880"/>
            <a:ext cx="4754880" cy="31638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03720" y="1325880"/>
            <a:ext cx="4754880" cy="3163824"/>
          </a:xfrm>
          <a:prstGeom prst="rect">
            <a:avLst/>
          </a:prstGeom>
          <a:ln w="19050">
            <a:solidFill>
              <a:srgbClr val="16B7C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98080" y="2468880"/>
            <a:ext cx="868680" cy="640080"/>
          </a:xfrm>
          <a:prstGeom prst="rect">
            <a:avLst/>
          </a:prstGeom>
          <a:ln w="19050">
            <a:solidFill>
              <a:srgbClr val="37C2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0" y="2249424"/>
            <a:ext cx="868680" cy="228600"/>
          </a:xfrm>
          <a:prstGeom prst="rect">
            <a:avLst/>
          </a:prstGeom>
          <a:solidFill>
            <a:srgbClr val="37C2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9966960" y="2834640"/>
            <a:ext cx="1188720" cy="640080"/>
          </a:xfrm>
          <a:prstGeom prst="rect">
            <a:avLst/>
          </a:prstGeom>
          <a:ln w="19050">
            <a:solidFill>
              <a:srgbClr val="F5A62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966960" y="2615184"/>
            <a:ext cx="640080" cy="2286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77240" y="1371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PROJECT · COMPUTER VISION BOOTCAMP — INDONESIA AI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31520" y="17830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Vehicle &amp; Object</a:t>
            </a:r>
            <a:endParaRPr lang="en-US" sz="4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Counter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777240" y="36118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Melatih model deteksi kendaraan (YOLOv8 + SAHI), lalu membangunnya jadi aplikasi penghitung real-time dari CCTV dengan dashboard, database, dan Docker.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77240" y="489204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4892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Hadi Halim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200400" y="489204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16B7C4"/>
          </a:solidFill>
          <a:ln/>
        </p:spPr>
      </p:sp>
      <p:sp>
        <p:nvSpPr>
          <p:cNvPr id="18" name="Text 15"/>
          <p:cNvSpPr/>
          <p:nvPr/>
        </p:nvSpPr>
        <p:spPr>
          <a:xfrm>
            <a:off x="3200400" y="4892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Michael Salabintago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040880" y="4892040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20" name="Text 17"/>
          <p:cNvSpPr/>
          <p:nvPr/>
        </p:nvSpPr>
        <p:spPr>
          <a:xfrm>
            <a:off x="7040880" y="4892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Yosep Setiawan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77240" y="55778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7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YOLOv8 · SAHI fine-tuning · ByteTrack · FastAPI · PostgreSQL · Docker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LATAR BELAKANG &amp; TUJUAN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Mengubah CCTV pasif jadi data lalu lintas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02920" cy="54864"/>
          </a:xfrm>
          <a:prstGeom prst="rect">
            <a:avLst/>
          </a:prstGeom>
          <a:solidFill>
            <a:srgbClr val="16B7C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6035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&amp; arah kendaraan penting untuk manajemen lalu lintas, tetapi pemantauan manual mahal dan tidak terukur.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 CCTV/ATCS sudah tersebar, namun videonya hanya ditonton — datanya tidak pernah dihitung.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Kondisi nyata (malam, persimpangan, objek kecil seperti motor) menyulitkan penghitungan.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otomatis yang mendeteksi, mengklasifikasi &amp; menghitung kendaraan dari CCTV — beserta arah geraknya — lalu menyimpannya ke database dan menampilkannya di dashboard real-time.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040880" y="1691640"/>
            <a:ext cx="4572000" cy="13716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269480" y="185623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052560" y="1856232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kendaraan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· mobil · bus · truk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40880" y="3246120"/>
            <a:ext cx="4572000" cy="13716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69480" y="341071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9052560" y="3410712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arah gerak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→ tujuan, terekam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40880" y="4800600"/>
            <a:ext cx="4572000" cy="13716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69480" y="496519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 jam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52560" y="4965192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agregasi waktu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 volume &amp; jam sibuk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Object Counter  ·  Final Project Computer Vision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400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GAMBARAN SOLUSI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 bagian: latih model, lalu bangun aplikasi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02920" cy="54864"/>
          </a:xfrm>
          <a:prstGeom prst="rect">
            <a:avLst/>
          </a:prstGeom>
          <a:solidFill>
            <a:srgbClr val="16B7C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11680"/>
            <a:ext cx="777240" cy="777240"/>
          </a:xfrm>
          <a:prstGeom prst="ellipse">
            <a:avLst/>
          </a:prstGeom>
          <a:solidFill>
            <a:srgbClr val="16B7C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9339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828800" y="20848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MODEL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2331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Deteksi kendaraan yang lebih jeli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310896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 ulang YOLOv8 fokus 4 kelas kendaraan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SAHI agar objek kecil (motor) tertangkap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COCO + slicing aided fine-tuning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best_vehicle_sahi.pt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0" y="2011680"/>
            <a:ext cx="777240" cy="7772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99339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543800" y="20848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APLIKASI REAL-TIME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43800" y="2331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Hitung, simpan, tampilkan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75120" y="310896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+ tracking + arah gerak (ByteTrack)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FastAPI (REST API + WebSocket)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PostgreSQL/SQLite + dashboard live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sekali jalan via Docker Compose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Object Counter  ·  Final Project Computer Vision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400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457200" cy="146304"/>
          </a:xfrm>
          <a:prstGeom prst="rect">
            <a:avLst/>
          </a:prstGeom>
          <a:solidFill>
            <a:srgbClr val="37C26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365760"/>
            <a:ext cx="146304" cy="457200"/>
          </a:xfrm>
          <a:prstGeom prst="rect">
            <a:avLst/>
          </a:prstGeom>
          <a:solidFill>
            <a:srgbClr val="37C26B"/>
          </a:solidFill>
          <a:ln/>
        </p:spPr>
      </p:sp>
      <p:sp>
        <p:nvSpPr>
          <p:cNvPr id="4" name="Shape 2"/>
          <p:cNvSpPr/>
          <p:nvPr/>
        </p:nvSpPr>
        <p:spPr>
          <a:xfrm>
            <a:off x="11323015" y="6345936"/>
            <a:ext cx="457200" cy="146304"/>
          </a:xfrm>
          <a:prstGeom prst="rect">
            <a:avLst/>
          </a:prstGeom>
          <a:solidFill>
            <a:srgbClr val="37C26B"/>
          </a:solidFill>
          <a:ln/>
        </p:spPr>
      </p:sp>
      <p:sp>
        <p:nvSpPr>
          <p:cNvPr id="5" name="Shape 3"/>
          <p:cNvSpPr/>
          <p:nvPr/>
        </p:nvSpPr>
        <p:spPr>
          <a:xfrm>
            <a:off x="11633911" y="6035040"/>
            <a:ext cx="146304" cy="457200"/>
          </a:xfrm>
          <a:prstGeom prst="rect">
            <a:avLst/>
          </a:prstGeom>
          <a:solidFill>
            <a:srgbClr val="37C26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13283F"/>
          </a:solidFill>
          <a:ln w="25400">
            <a:solidFill>
              <a:srgbClr val="16B7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31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560320" y="25146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BAGIAN SATU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0" y="288036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Melatih model deteksi kendaraan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60320" y="397764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B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YOLOv8 + SAHI  ·  notebook  train_vehicle_sahi_colab.ipynb  ·  Google Colab (GPU T4)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KENAPA LATIH ULANG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Masalah objek kecil &amp; solusi SAHI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02920" cy="54864"/>
          </a:xfrm>
          <a:prstGeom prst="rect">
            <a:avLst/>
          </a:prstGeom>
          <a:solidFill>
            <a:srgbClr val="16B7C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Masalah: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deteksi biasa, objek kecil — terutama motor — sering terlewat. Penyebabnya objek tampak terlalu kecil relatif terhadap ukuran input model.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6126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 — Slicing Aided Hyper Inference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dipotong jadi ubin kecil yang tumpang-tindih, deteksi dilakukan per ubin, lalu hasilnya digabung. Objek kecil jadi relatif lebih besar di tiap ubin → lebih tertangkap.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Dipakai dua kali: saat training (slicing aided fine-tuning) dan saat inference.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040880" y="2331720"/>
            <a:ext cx="1325880" cy="1143000"/>
          </a:xfrm>
          <a:prstGeom prst="rect">
            <a:avLst/>
          </a:prstGeom>
          <a:solidFill>
            <a:srgbClr val="F2F5F8"/>
          </a:solidFill>
          <a:ln w="12700">
            <a:solidFill>
              <a:srgbClr val="6477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0" y="35204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366760" y="2898648"/>
            <a:ext cx="411480" cy="0"/>
          </a:xfrm>
          <a:prstGeom prst="line">
            <a:avLst/>
          </a:prstGeom>
          <a:noFill/>
          <a:ln w="25400">
            <a:solidFill>
              <a:srgbClr val="64778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869680" y="2377440"/>
            <a:ext cx="713232" cy="566928"/>
          </a:xfrm>
          <a:prstGeom prst="rect">
            <a:avLst/>
          </a:prstGeom>
          <a:solidFill>
            <a:srgbClr val="E9F6F8"/>
          </a:solidFill>
          <a:ln w="12700">
            <a:solidFill>
              <a:srgbClr val="16B7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45168" y="2377440"/>
            <a:ext cx="713232" cy="566928"/>
          </a:xfrm>
          <a:prstGeom prst="rect">
            <a:avLst/>
          </a:prstGeom>
          <a:solidFill>
            <a:srgbClr val="E9F6F8"/>
          </a:solidFill>
          <a:ln w="12700">
            <a:solidFill>
              <a:srgbClr val="16B7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69680" y="2834640"/>
            <a:ext cx="713232" cy="566928"/>
          </a:xfrm>
          <a:prstGeom prst="rect">
            <a:avLst/>
          </a:prstGeom>
          <a:solidFill>
            <a:srgbClr val="E9F6F8"/>
          </a:solidFill>
          <a:ln w="12700">
            <a:solidFill>
              <a:srgbClr val="16B7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45168" y="2834640"/>
            <a:ext cx="713232" cy="566928"/>
          </a:xfrm>
          <a:prstGeom prst="rect">
            <a:avLst/>
          </a:prstGeom>
          <a:solidFill>
            <a:srgbClr val="E9F6F8"/>
          </a:solidFill>
          <a:ln w="12700">
            <a:solidFill>
              <a:srgbClr val="16B7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2520" y="35204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ubin overlap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131552" y="2898648"/>
            <a:ext cx="365760" cy="0"/>
          </a:xfrm>
          <a:prstGeom prst="line">
            <a:avLst/>
          </a:prstGeom>
          <a:noFill/>
          <a:ln w="25400">
            <a:solidFill>
              <a:srgbClr val="64778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515600" y="2331720"/>
            <a:ext cx="1280160" cy="1143000"/>
          </a:xfrm>
          <a:prstGeom prst="rect">
            <a:avLst/>
          </a:prstGeom>
          <a:solidFill>
            <a:srgbClr val="F2F5F8"/>
          </a:solidFill>
          <a:ln w="19050">
            <a:solidFill>
              <a:srgbClr val="37C2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08208" y="2743200"/>
            <a:ext cx="310896" cy="256032"/>
          </a:xfrm>
          <a:prstGeom prst="rect">
            <a:avLst/>
          </a:prstGeom>
          <a:ln w="19050">
            <a:solidFill>
              <a:srgbClr val="37C2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247120" y="2990088"/>
            <a:ext cx="237744" cy="201168"/>
          </a:xfrm>
          <a:prstGeom prst="rect">
            <a:avLst/>
          </a:prstGeom>
          <a:ln w="19050">
            <a:solidFill>
              <a:srgbClr val="37C2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0" y="35204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gabung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03720" y="39593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Potong  -&gt;  deteksi per ubin  -&gt;  gabung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Object Counter  ·  Final Project Computer Vision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00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LANGKAH 1 ·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COCO untuk 4 kelas kendaraan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02920" cy="54864"/>
          </a:xfrm>
          <a:prstGeom prst="rect">
            <a:avLst/>
          </a:prstGeom>
          <a:solidFill>
            <a:srgbClr val="16B7C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COCO 2017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Ambil hanya 4 kelas: car, motorcycle, bus, truck — via pycocotools; kategori di-remap ke id 0–3.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Unduh tahan-banting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Tiap gambar divalidasi (yang rusak di-retry lalu dibuang); proses resumable — re-run melanjutkan, bukan mengulang.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keseimbangan kelas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sangat timpang — car jauh lebih banyak dari motor/bus/truk → objek kecil sering terlewat.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04088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Distribusi anotasi per kelas (train vs val)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040880" y="2057400"/>
          <a:ext cx="45720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040880" y="5074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mendominasi (7.153 train) — kelas sangat timpang, salah satu sebab objek kecil sering terlewat.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Object Counter  ·  Final Project Computer Vision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400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DISTRIBUSI UKURAN OBJEK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Kenapa objek kecil (motor) sulit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02920" cy="54864"/>
          </a:xfrm>
          <a:prstGeom prst="rect">
            <a:avLst/>
          </a:prstGeom>
          <a:solidFill>
            <a:srgbClr val="16B7C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objek = sisi kotak relatif terhadap sisi gambar (boxplot di notebook).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Median ukuran objek per kelas (% sisi gambar)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2377440"/>
          <a:ext cx="58521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766560" y="2011680"/>
            <a:ext cx="4846320" cy="3429000"/>
          </a:xfrm>
          <a:prstGeom prst="roundRect">
            <a:avLst>
              <a:gd name="adj" fmla="val 2400"/>
            </a:avLst>
          </a:prstGeom>
          <a:solidFill>
            <a:srgbClr val="F2F5F8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04088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Bacaan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040880" y="2606040"/>
            <a:ext cx="4343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car: objek terkecil (median ~6%) DAN paling banyak → didominasi objek mungil.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bus/motor lebih besar &amp; sangat bervariasi (bus bisa memenuhi frame).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 kecil = piksel sedikit → mudah terlewat pada deteksi biasa.</a:t>
            </a:r>
            <a:endParaRPr lang="en-US" sz="1250" dirty="0"/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Justifikasi SAHI: memotong frame jadi ubin kecil membuat objek mungil jadi relatif besar → lebih tertangkap.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Object Counter  ·  Final Project Computer Vision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400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LANGKAH 2 · SLICING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Slicing aided fine-tuning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02920" cy="54864"/>
          </a:xfrm>
          <a:prstGeom prst="rect">
            <a:avLst/>
          </a:prstGeom>
          <a:solidFill>
            <a:srgbClr val="16B7C4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402336" cy="402336"/>
          </a:xfrm>
          <a:prstGeom prst="ellipse">
            <a:avLst/>
          </a:prstGeom>
          <a:solidFill>
            <a:srgbClr val="16B7C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73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72821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Slice dataset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0" y="167335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 slice_coco memotong tiap gambar + anotasinya jadi ubin tumpang-tindih.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402336" cy="40233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34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68833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Parameter ubin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263347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640 px · overlap 0.2 · min_area_ratio 0.1 (perkecil ke 512 / overlap 0.3 untuk objek lebih kecil).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402336" cy="402336"/>
          </a:xfrm>
          <a:prstGeom prst="ellipse">
            <a:avLst/>
          </a:prstGeom>
          <a:solidFill>
            <a:srgbClr val="16B7C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64845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Konversi ke YOLO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0" y="359359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ter-slice → format YOLO (txt) + data.yaml berisi 4 nama kelas.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663440"/>
            <a:ext cx="402336" cy="40233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60857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Pemetaan label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0" y="455371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= car/motorcycle/bus/truck → app memetakan ke mobil/motor/bus/truk otomatis.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Object Counter  ·  Final Project Computer Vision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00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LANGKAH 3 · PELATIHAN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Konfigurasi training YOLOv8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02920" cy="54864"/>
          </a:xfrm>
          <a:prstGeom prst="rect">
            <a:avLst/>
          </a:prstGeom>
          <a:solidFill>
            <a:srgbClr val="16B7C4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126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8404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Setelan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Nilai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dasar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yolov8s.pt (transfer learning dari bobot COCO)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 dengan early-stopping patience 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/ imgsz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/ 640 (sesuai ukuran ubin SAHI)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Augmentasi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mosaic 1.0 · scale 0.5 · fliplr 0.5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Perangkat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NVIDIA T4 (Google Colab)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040880" y="1737360"/>
            <a:ext cx="4572000" cy="3657600"/>
          </a:xfrm>
          <a:prstGeom prst="roundRect">
            <a:avLst>
              <a:gd name="adj" fmla="val 2250"/>
            </a:avLst>
          </a:prstGeom>
          <a:solidFill>
            <a:srgbClr val="0E1B2B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B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model.train(...)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0" y="2194560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YOLO('yolov8s.pt')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model.train(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data=data_yml,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imgsz=640,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epochs=100,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batch=16,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patience=20,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mosaic=1.0,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scale=0.5,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fliplr=0.5,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name='vehicle_sahi')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Object Counter  ·  Final Project Computer Vision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400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MEMBACA LOG 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console ultralytics per epoch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02920" cy="54864"/>
          </a:xfrm>
          <a:prstGeom prst="rect">
            <a:avLst/>
          </a:prstGeom>
          <a:solidFill>
            <a:srgbClr val="16B7C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943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training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1/100 — epoch ke-berapa dari total; GPU_mem ≈ 4.8 GB memori GPU terpakai.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/ cls / dfl_loss — rugi lokalisasi / klasifikasi / presisi tepi kotak (makin kecil makin baik).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 — jumlah objek dalam batch; Size 640 — resolusi input.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188/188 — batch per epoch (≈ 3.000 gambar latih, ~24 iterasi/detik).</a:t>
            </a:r>
            <a:endParaRPr lang="en-US" sz="1250" dirty="0"/>
          </a:p>
          <a:p>
            <a:pPr indent="0" marL="0">
              <a:lnSpc>
                <a:spcPct val="104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validasi (dijalankan tiap epoch)</a:t>
            </a:r>
            <a:endParaRPr lang="en-US" sz="1250" dirty="0"/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· Images 500 · Instances 1873 · Box(P)=precision · R=recall · mAP50 · mAP50-95.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783080"/>
          <a:ext cx="48463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Epoch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box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cls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mAP50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mAP50-95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1.237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1.763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0.376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0.230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1.327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1.473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0.481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0.301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1.111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1.085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0.577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0.376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 best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0.924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0.747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0.594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0.394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 stop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0.840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0.631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0.587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0.386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766560" y="46634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train turun ~3×; mAP50 naik lalu mendatar ~epoch 45–63 (terbaik 0.594), lalu early-stop di epoch 83 (patience 20).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Object Counter  ·  Final Project Computer Vision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400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HASIL 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Kurva metrik &amp; performa model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02920" cy="54864"/>
          </a:xfrm>
          <a:prstGeom prst="rect">
            <a:avLst/>
          </a:prstGeom>
          <a:solidFill>
            <a:srgbClr val="16B7C4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172200" y="1645920"/>
          <a:ext cx="54406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617720"/>
            <a:ext cx="2606040" cy="1143000"/>
          </a:xfrm>
          <a:prstGeom prst="roundRect">
            <a:avLst>
              <a:gd name="adj" fmla="val 7200"/>
            </a:avLst>
          </a:prstGeom>
          <a:solidFill>
            <a:srgbClr val="F2F5F8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48640" y="4754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0.59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548640" y="53949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337560" y="4617720"/>
            <a:ext cx="2606040" cy="1143000"/>
          </a:xfrm>
          <a:prstGeom prst="roundRect">
            <a:avLst>
              <a:gd name="adj" fmla="val 7200"/>
            </a:avLst>
          </a:prstGeom>
          <a:solidFill>
            <a:srgbClr val="F2F5F8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337560" y="4754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0.39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3337560" y="53949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mAP50-95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26480" y="4617720"/>
            <a:ext cx="2606040" cy="1143000"/>
          </a:xfrm>
          <a:prstGeom prst="roundRect">
            <a:avLst>
              <a:gd name="adj" fmla="val 7200"/>
            </a:avLst>
          </a:prstGeom>
          <a:solidFill>
            <a:srgbClr val="F2F5F8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126480" y="4754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0.70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6126480" y="53949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915400" y="4617720"/>
            <a:ext cx="2606040" cy="1143000"/>
          </a:xfrm>
          <a:prstGeom prst="roundRect">
            <a:avLst>
              <a:gd name="adj" fmla="val 7200"/>
            </a:avLst>
          </a:prstGeom>
          <a:solidFill>
            <a:srgbClr val="F2F5F8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915400" y="4754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0.55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8915400" y="53949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train &amp; val turun lalu stabil; selisihnya kecil → konvergen tanpa overfitting parah.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Object Counter  ·  Final Project Computer Vision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430000" y="6400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MEMBACA GRAFIK 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Kurva loss — results.png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02920" cy="54864"/>
          </a:xfrm>
          <a:prstGeom prst="rect">
            <a:avLst/>
          </a:prstGeom>
          <a:solidFill>
            <a:srgbClr val="16B7C4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548640" y="1554480"/>
          <a:ext cx="2148840" cy="17556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2743200" y="1554480"/>
          <a:ext cx="2148840" cy="17556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2" descr=""/>
          <p:cNvGraphicFramePr/>
          <p:nvPr/>
        </p:nvGraphicFramePr>
        <p:xfrm>
          <a:off x="4937760" y="1554480"/>
          <a:ext cx="2148840" cy="17556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hart 3" descr=""/>
          <p:cNvGraphicFramePr/>
          <p:nvPr/>
        </p:nvGraphicFramePr>
        <p:xfrm>
          <a:off x="548640" y="3429000"/>
          <a:ext cx="2148840" cy="17556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9" name="Chart 4" descr=""/>
          <p:cNvGraphicFramePr/>
          <p:nvPr/>
        </p:nvGraphicFramePr>
        <p:xfrm>
          <a:off x="2743200" y="3429000"/>
          <a:ext cx="2148840" cy="17556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10" name="Chart 5" descr=""/>
          <p:cNvGraphicFramePr/>
          <p:nvPr/>
        </p:nvGraphicFramePr>
        <p:xfrm>
          <a:off x="4937760" y="3429000"/>
          <a:ext cx="2148840" cy="17556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1" name="Shape 3"/>
          <p:cNvSpPr/>
          <p:nvPr/>
        </p:nvSpPr>
        <p:spPr>
          <a:xfrm>
            <a:off x="7406640" y="1554480"/>
            <a:ext cx="4206240" cy="3977640"/>
          </a:xfrm>
          <a:prstGeom prst="roundRect">
            <a:avLst>
              <a:gd name="adj" fmla="val 2069"/>
            </a:avLst>
          </a:prstGeom>
          <a:solidFill>
            <a:srgbClr val="F2F5F8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12" name="Text 4"/>
          <p:cNvSpPr/>
          <p:nvPr/>
        </p:nvSpPr>
        <p:spPr>
          <a:xfrm>
            <a:off x="768096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Cara membaca</a:t>
            </a:r>
            <a:endParaRPr lang="en-US" sz="1400" dirty="0"/>
          </a:p>
        </p:txBody>
      </p:sp>
      <p:sp>
        <p:nvSpPr>
          <p:cNvPr id="13" name="Text 5"/>
          <p:cNvSpPr/>
          <p:nvPr/>
        </p:nvSpPr>
        <p:spPr>
          <a:xfrm>
            <a:off x="7680960" y="2176272"/>
            <a:ext cx="3703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box_loss — akurasi letak &amp; ukuran kotak.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cls_loss — ketepatan klasifikasi kelas.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dfl_loss — presisi tepi kotak (distribution focal).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(biru) turun konsisten — model terus belajar.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(oranye) turun lalu mendatar (~epoch 30) → konvergen.</a:t>
            </a:r>
            <a:endParaRPr lang="en-US" sz="1200" dirty="0"/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Selisih train–val kecil → tidak overfitting parah.</a:t>
            </a:r>
            <a:endParaRPr lang="en-US" sz="1200" dirty="0"/>
          </a:p>
        </p:txBody>
      </p:sp>
      <p:sp>
        <p:nvSpPr>
          <p:cNvPr id="14" name="Text 6"/>
          <p:cNvSpPr/>
          <p:nvPr/>
        </p:nvSpPr>
        <p:spPr>
          <a:xfrm>
            <a:off x="548640" y="544068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Bersama grafik mAP / precision / recall, panel-panel ini menyusun seluruh isi results.png.</a:t>
            </a:r>
            <a:endParaRPr lang="en-US" sz="1100" dirty="0"/>
          </a:p>
        </p:txBody>
      </p:sp>
      <p:sp>
        <p:nvSpPr>
          <p:cNvPr id="15" name="Text 7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Object Counter  ·  Final Project Computer Vision</a:t>
            </a:r>
            <a:endParaRPr lang="en-US" sz="900" dirty="0"/>
          </a:p>
        </p:txBody>
      </p:sp>
      <p:sp>
        <p:nvSpPr>
          <p:cNvPr id="16" name="Text 8"/>
          <p:cNvSpPr/>
          <p:nvPr/>
        </p:nvSpPr>
        <p:spPr>
          <a:xfrm>
            <a:off x="11430000" y="6400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INFERENCE &amp; HASIL DETEKSI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SAHI ter-slice + uji siang/malam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02920" cy="54864"/>
          </a:xfrm>
          <a:prstGeom prst="rect">
            <a:avLst/>
          </a:prstGeom>
          <a:solidFill>
            <a:srgbClr val="16B7C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2F5F8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Inference SAHI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get_sliced_prediction() menangkap lebih banyak motor kecil dibanding deteksi biasa.</a:t>
            </a:r>
            <a:endParaRPr lang="en-US" sz="1200" dirty="0"/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Siang/terang: confidence tinggi (contoh bus 0.91 · mobil 0.80).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440680" cy="1691640"/>
          </a:xfrm>
          <a:prstGeom prst="roundRect">
            <a:avLst>
              <a:gd name="adj" fmla="val 4865"/>
            </a:avLst>
          </a:prstGeom>
          <a:solidFill>
            <a:srgbClr val="F2F5F8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Tantangan malam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2402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gelap → kontras rendah, sebagian objek terlewat (ATCS Sarinah: truck 0.75 · car 0.62).</a:t>
            </a:r>
            <a:endParaRPr lang="en-US" sz="1200" dirty="0"/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&amp; objek jauh paling terdampak.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11064240" cy="1965960"/>
          </a:xfrm>
          <a:prstGeom prst="roundRect">
            <a:avLst>
              <a:gd name="adj" fmla="val 4186"/>
            </a:avLst>
          </a:prstGeom>
          <a:solidFill>
            <a:srgbClr val="0E1B2B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7673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 malam &amp; rencana tuntas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20624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Inference: ubin lebih kecil (SLICE_INFER 320/256) + enhance CLAHE &amp; brighten + confidence rendah (0.05–0.1).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Tuntas (jujur): tambah data domain — frame ATCS malam — ke dataset training, bukan sekadar trik inference.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Object Counter  ·  Final Project Computer Vision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400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HASIL PREDIKSI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Contoh keluaran deteksi model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02920" cy="54864"/>
          </a:xfrm>
          <a:prstGeom prst="rect">
            <a:avLst/>
          </a:prstGeom>
          <a:solidFill>
            <a:srgbClr val="16B7C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5394960" cy="3063240"/>
          </a:xfrm>
          <a:prstGeom prst="roundRect">
            <a:avLst>
              <a:gd name="adj" fmla="val 2687"/>
            </a:avLst>
          </a:prstGeom>
          <a:solidFill>
            <a:srgbClr val="E9EDF1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3246120"/>
            <a:ext cx="4937760" cy="914400"/>
          </a:xfrm>
          <a:prstGeom prst="rect">
            <a:avLst/>
          </a:prstGeom>
          <a:solidFill>
            <a:srgbClr val="D7DEE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38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Siang / terang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80160" y="2468880"/>
            <a:ext cx="1828800" cy="1234440"/>
          </a:xfrm>
          <a:prstGeom prst="rect">
            <a:avLst/>
          </a:prstGeom>
          <a:ln w="31750">
            <a:solidFill>
              <a:srgbClr val="37C2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71016" y="2221992"/>
            <a:ext cx="1417320" cy="246888"/>
          </a:xfrm>
          <a:prstGeom prst="rect">
            <a:avLst/>
          </a:prstGeom>
          <a:solidFill>
            <a:srgbClr val="37C26B"/>
          </a:solidFill>
          <a:ln/>
        </p:spPr>
      </p:sp>
      <p:sp>
        <p:nvSpPr>
          <p:cNvPr id="10" name="Text 8"/>
          <p:cNvSpPr/>
          <p:nvPr/>
        </p:nvSpPr>
        <p:spPr>
          <a:xfrm>
            <a:off x="1271016" y="22128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0.91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66160" y="2880360"/>
            <a:ext cx="1463040" cy="960120"/>
          </a:xfrm>
          <a:prstGeom prst="rect">
            <a:avLst/>
          </a:prstGeom>
          <a:ln w="31750">
            <a:solidFill>
              <a:srgbClr val="378A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57016" y="2633472"/>
            <a:ext cx="1417320" cy="246888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3" name="Text 11"/>
          <p:cNvSpPr/>
          <p:nvPr/>
        </p:nvSpPr>
        <p:spPr>
          <a:xfrm>
            <a:off x="3557016" y="26243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0.80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42976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tinggi &amp; stabil — objek terang dan jelas.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1783080"/>
            <a:ext cx="5394960" cy="3063240"/>
          </a:xfrm>
          <a:prstGeom prst="roundRect">
            <a:avLst>
              <a:gd name="adj" fmla="val 2687"/>
            </a:avLst>
          </a:prstGeom>
          <a:solidFill>
            <a:srgbClr val="0E1B2B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1938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Malam / CCTV gelap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78240" y="1956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2026-06-12 02:35  ·  SARINAH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58000" y="2697480"/>
            <a:ext cx="1645920" cy="1143000"/>
          </a:xfrm>
          <a:prstGeom prst="rect">
            <a:avLst/>
          </a:prstGeom>
          <a:ln w="31750">
            <a:solidFill>
              <a:srgbClr val="F5A62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48856" y="2450592"/>
            <a:ext cx="1417320" cy="24688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6848856" y="24414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0.75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869680" y="2971800"/>
            <a:ext cx="1188720" cy="822960"/>
          </a:xfrm>
          <a:prstGeom prst="rect">
            <a:avLst/>
          </a:prstGeom>
          <a:ln w="31750">
            <a:solidFill>
              <a:srgbClr val="E24B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60536" y="2724912"/>
            <a:ext cx="1207008" cy="24688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23" name="Text 21"/>
          <p:cNvSpPr/>
          <p:nvPr/>
        </p:nvSpPr>
        <p:spPr>
          <a:xfrm>
            <a:off x="8860536" y="271576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0.62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92240" y="4297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turun — kontras rendah, motor/objek jauh terlewat.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membaca: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tiap objek → kotak + label kelas + skor confidence (0–1). Skor turun otomatis pada kondisi gelap.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Skema dari hasil uji nyata. Screenshot prediksi asli dapat disisipkan: simpan ke folder media/.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Object Counter  ·  Final Project Computer Vision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400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457200" cy="146304"/>
          </a:xfrm>
          <a:prstGeom prst="rect">
            <a:avLst/>
          </a:prstGeom>
          <a:solidFill>
            <a:srgbClr val="37C26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365760"/>
            <a:ext cx="146304" cy="457200"/>
          </a:xfrm>
          <a:prstGeom prst="rect">
            <a:avLst/>
          </a:prstGeom>
          <a:solidFill>
            <a:srgbClr val="37C26B"/>
          </a:solidFill>
          <a:ln/>
        </p:spPr>
      </p:sp>
      <p:sp>
        <p:nvSpPr>
          <p:cNvPr id="4" name="Shape 2"/>
          <p:cNvSpPr/>
          <p:nvPr/>
        </p:nvSpPr>
        <p:spPr>
          <a:xfrm>
            <a:off x="11323015" y="6345936"/>
            <a:ext cx="457200" cy="146304"/>
          </a:xfrm>
          <a:prstGeom prst="rect">
            <a:avLst/>
          </a:prstGeom>
          <a:solidFill>
            <a:srgbClr val="37C26B"/>
          </a:solidFill>
          <a:ln/>
        </p:spPr>
      </p:sp>
      <p:sp>
        <p:nvSpPr>
          <p:cNvPr id="5" name="Shape 3"/>
          <p:cNvSpPr/>
          <p:nvPr/>
        </p:nvSpPr>
        <p:spPr>
          <a:xfrm>
            <a:off x="11633911" y="6035040"/>
            <a:ext cx="146304" cy="457200"/>
          </a:xfrm>
          <a:prstGeom prst="rect">
            <a:avLst/>
          </a:prstGeom>
          <a:solidFill>
            <a:srgbClr val="37C26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13283F"/>
          </a:solidFill>
          <a:ln w="25400">
            <a:solidFill>
              <a:srgbClr val="16B7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31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560320" y="25146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BAGIAN DUA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0" y="288036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Aplikasi penghitung real-time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60320" y="397764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B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YOLOv8 + ByteTrack  ·  FastAPI (REST + WebSocket)  ·  PostgreSQL / SQLite  ·  Docker Compose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ARSITEKTUR APLIKASI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Alur data end-to-end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02920" cy="54864"/>
          </a:xfrm>
          <a:prstGeom prst="rect">
            <a:avLst/>
          </a:prstGeom>
          <a:solidFill>
            <a:srgbClr val="16B7C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468880"/>
            <a:ext cx="2103120" cy="128016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2468880"/>
            <a:ext cx="19568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Sumber video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· RTSP · YouTube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HLS ATCS (proxy)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97480" y="3108960"/>
            <a:ext cx="457200" cy="0"/>
          </a:xfrm>
          <a:prstGeom prst="line">
            <a:avLst/>
          </a:prstGeom>
          <a:noFill/>
          <a:ln w="25400">
            <a:solidFill>
              <a:srgbClr val="64778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46120" y="2468880"/>
            <a:ext cx="2468880" cy="1280160"/>
          </a:xfrm>
          <a:prstGeom prst="roundRect">
            <a:avLst>
              <a:gd name="adj" fmla="val 5000"/>
            </a:avLst>
          </a:prstGeom>
          <a:solidFill>
            <a:srgbClr val="0E1B2B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19272" y="2468880"/>
            <a:ext cx="23225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Deteksi &amp; tracking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YOLOv8 + ByteTrack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(live.py · thread latar)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0" y="3108960"/>
            <a:ext cx="457200" cy="0"/>
          </a:xfrm>
          <a:prstGeom prst="line">
            <a:avLst/>
          </a:prstGeom>
          <a:noFill/>
          <a:ln w="25400">
            <a:solidFill>
              <a:srgbClr val="64778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309360" y="141732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16B7C4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82512" y="1417320"/>
            <a:ext cx="2505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Anotasi → MJPEG /video_feed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WebSocket /ws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374904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F5A623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82512" y="3749040"/>
            <a:ext cx="2505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on_count → Database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SQLite / PostgreSQL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9320" y="3108960"/>
            <a:ext cx="320040" cy="-1161288"/>
          </a:xfrm>
          <a:prstGeom prst="line">
            <a:avLst/>
          </a:prstGeom>
          <a:noFill/>
          <a:ln w="25400">
            <a:solidFill>
              <a:srgbClr val="6477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89320" y="3108960"/>
            <a:ext cx="320040" cy="1161288"/>
          </a:xfrm>
          <a:prstGeom prst="line">
            <a:avLst/>
          </a:prstGeom>
          <a:noFill/>
          <a:ln w="25400">
            <a:solidFill>
              <a:srgbClr val="6477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947672"/>
            <a:ext cx="0" cy="0"/>
          </a:xfrm>
          <a:prstGeom prst="line">
            <a:avLst/>
          </a:prstGeom>
          <a:noFill/>
          <a:ln w="25400">
            <a:solidFill>
              <a:srgbClr val="64778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309360" y="4270248"/>
            <a:ext cx="0" cy="0"/>
          </a:xfrm>
          <a:prstGeom prst="line">
            <a:avLst/>
          </a:prstGeom>
          <a:noFill/>
          <a:ln w="25400">
            <a:solidFill>
              <a:srgbClr val="64778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06840" y="1947672"/>
            <a:ext cx="411480" cy="0"/>
          </a:xfrm>
          <a:prstGeom prst="line">
            <a:avLst/>
          </a:prstGeom>
          <a:noFill/>
          <a:ln w="25400">
            <a:solidFill>
              <a:srgbClr val="64778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06840" y="4270248"/>
            <a:ext cx="411480" cy="0"/>
          </a:xfrm>
          <a:prstGeom prst="line">
            <a:avLst/>
          </a:prstGeom>
          <a:noFill/>
          <a:ln w="25400">
            <a:solidFill>
              <a:srgbClr val="6477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464040" y="1417320"/>
            <a:ext cx="2194560" cy="1051560"/>
          </a:xfrm>
          <a:prstGeom prst="roundRect">
            <a:avLst>
              <a:gd name="adj" fmla="val 6087"/>
            </a:avLst>
          </a:prstGeom>
          <a:solidFill>
            <a:srgbClr val="F2F5F8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537192" y="1417320"/>
            <a:ext cx="20482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CCTV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(canvas / &lt;img&gt;)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464040" y="3749040"/>
            <a:ext cx="2194560" cy="1051560"/>
          </a:xfrm>
          <a:prstGeom prst="roundRect">
            <a:avLst>
              <a:gd name="adj" fmla="val 6087"/>
            </a:avLst>
          </a:prstGeom>
          <a:solidFill>
            <a:srgbClr val="F2F5F8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537192" y="3749040"/>
            <a:ext cx="20482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/stats · /timeseries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Report &amp; Chart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525780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13283F"/>
          </a:solidFill>
          <a:ln/>
        </p:spPr>
      </p:sp>
      <p:sp>
        <p:nvSpPr>
          <p:cNvPr id="26" name="Text 24"/>
          <p:cNvSpPr/>
          <p:nvPr/>
        </p:nvSpPr>
        <p:spPr>
          <a:xfrm>
            <a:off x="3246120" y="52578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FE6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 (api.py)  —  REST API + WebSocket  +  serve dashboard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Object Counter  ·  Final Project Computer Vision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400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LOGIKA INTI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Deteksi, tracking &amp; arah gerak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02920" cy="54864"/>
          </a:xfrm>
          <a:prstGeom prst="rect">
            <a:avLst/>
          </a:prstGeom>
          <a:solidFill>
            <a:srgbClr val="16B7C4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91640"/>
            <a:ext cx="402336" cy="402336"/>
          </a:xfrm>
          <a:prstGeom prst="ellipse">
            <a:avLst/>
          </a:prstGeom>
          <a:solidFill>
            <a:srgbClr val="16B7C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645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Deteksi per frame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0" y="1645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mengeluarkan kotak + kelas kendaraan.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32888"/>
            <a:ext cx="402336" cy="40233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23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4871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Tracking ID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24871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menjaga ID konsisten antar-frame.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374136"/>
            <a:ext cx="402336" cy="402336"/>
          </a:xfrm>
          <a:prstGeom prst="ellipse">
            <a:avLst/>
          </a:prstGeom>
          <a:solidFill>
            <a:srgbClr val="16B7C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3284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Lintasan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0" y="332841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posisi awal &amp; akhir tiap ID.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215384"/>
            <a:ext cx="402336" cy="40233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1696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Arah dominan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0" y="416966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 gerak → label "Bawah → Atas", dst.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056632"/>
            <a:ext cx="402336" cy="402336"/>
          </a:xfrm>
          <a:prstGeom prst="ellipse">
            <a:avLst/>
          </a:prstGeom>
          <a:solidFill>
            <a:srgbClr val="16B7C4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047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50109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Hitung &amp; simpan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0" y="5010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objek keluar: catat waktu, kelas, arah_dari, arah_ke.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0" y="1691640"/>
            <a:ext cx="4297680" cy="3657600"/>
          </a:xfrm>
          <a:prstGeom prst="roundRect">
            <a:avLst>
              <a:gd name="adj" fmla="val 2250"/>
            </a:avLst>
          </a:prstGeom>
          <a:solidFill>
            <a:srgbClr val="0E1B2B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89520" y="1920240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arah_label(dx, dy):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abs(dy) &gt;= abs(dx):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('Bawah -&gt; Atas' if dy&lt;0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else 'Atas -&gt; Bawah')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('Kiri -&gt; Kanan' if dx&gt;0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 'Kanan -&gt; Kiri')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dihitung sekali per track_id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self.counts[kelas][arah] += 1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on_count({kelas, arah_dari,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arah_ke, track_id})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589520" y="4983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B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arah_label()  ·  direction_counter.py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Object Counter  ·  Final Project Computer Vision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400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FastAPI: REST API + WebSocket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02920" cy="54864"/>
          </a:xfrm>
          <a:prstGeom prst="rect">
            <a:avLst/>
          </a:prstGeom>
          <a:solidFill>
            <a:srgbClr val="16B7C4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7665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Endpoint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Fungsi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 /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Halaman dashboard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 /video_feed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 MJPEG frame beranotasi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WS   /ws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frame baru ke canvas (hemat)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 /stats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Hitungan live per jenis kendaraan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 /timeseries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 per jam per jenis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/count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Proses file video → simpan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 /events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Riwayat kejadian terbaru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1691640"/>
            <a:ext cx="3931920" cy="3657600"/>
          </a:xfrm>
          <a:prstGeom prst="roundRect">
            <a:avLst>
              <a:gd name="adj" fmla="val 2250"/>
            </a:avLst>
          </a:prstGeom>
          <a:solidFill>
            <a:srgbClr val="F2F5F8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5528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Kenapa FastAPI?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955280" y="237744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+ WebSocket — frame live di-push tanpa polling.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gaya OOP: DirectionCounter &amp; LiveCounter.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Auto-docs interaktif di /docs (OpenAPI).</a:t>
            </a:r>
            <a:endParaRPr lang="en-US" sz="1250" dirty="0"/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app menyajikan API, dashboard, &amp; video.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Object Counter  ·  Final Project Computer Vision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400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STREAMING REAL-TIME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worker (live.py)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02920" cy="54864"/>
          </a:xfrm>
          <a:prstGeom prst="rect">
            <a:avLst/>
          </a:prstGeom>
          <a:solidFill>
            <a:srgbClr val="16B7C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667512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82296" cy="777240"/>
          </a:xfrm>
          <a:prstGeom prst="rect">
            <a:avLst/>
          </a:prstGeom>
          <a:solidFill>
            <a:srgbClr val="16B7C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373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Thread latar (daemon)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383280" y="173736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berjalan terus tanpa memblok API/dashboard.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70048"/>
            <a:ext cx="6675120" cy="777240"/>
          </a:xfrm>
          <a:prstGeom prst="roundRect">
            <a:avLst>
              <a:gd name="adj" fmla="val 10588"/>
            </a:avLst>
          </a:prstGeom>
          <a:solidFill>
            <a:srgbClr val="F2F5F8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670048"/>
            <a:ext cx="82296" cy="777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67004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Deteksi ≠ tampilan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383280" y="2670048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Dipisah → video tetap mulus, kotak menyusul sedikit.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602736"/>
            <a:ext cx="667512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602736"/>
            <a:ext cx="82296" cy="777240"/>
          </a:xfrm>
          <a:prstGeom prst="rect">
            <a:avLst/>
          </a:prstGeom>
          <a:solidFill>
            <a:srgbClr val="16B7C4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602736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 jalur output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383280" y="3602736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MJPEG (fallback &lt;img&gt;) + WebSocket /ws (push hanya frame baru).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535424"/>
            <a:ext cx="6675120" cy="777240"/>
          </a:xfrm>
          <a:prstGeom prst="roundRect">
            <a:avLst>
              <a:gd name="adj" fmla="val 10588"/>
            </a:avLst>
          </a:prstGeom>
          <a:solidFill>
            <a:srgbClr val="F2F5F8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535424"/>
            <a:ext cx="82296" cy="777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53542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Tuning CPU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383280" y="4535424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IMGSZ 320 (cepat) vs 640 (akurat); VID_STRIDE untuk mesin lambat.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468112"/>
            <a:ext cx="667512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5468112"/>
            <a:ext cx="82296" cy="777240"/>
          </a:xfrm>
          <a:prstGeom prst="rect">
            <a:avLst/>
          </a:prstGeom>
          <a:solidFill>
            <a:srgbClr val="16B7C4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46811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Tahan banting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383280" y="5468112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Auto-restart saat stream putus / file selesai.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0" y="1737360"/>
            <a:ext cx="4023360" cy="3794760"/>
          </a:xfrm>
          <a:prstGeom prst="roundRect">
            <a:avLst>
              <a:gd name="adj" fmla="val 2169"/>
            </a:avLst>
          </a:prstGeom>
          <a:solidFill>
            <a:srgbClr val="0E1B2B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86384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Hasil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863840" y="2331720"/>
            <a:ext cx="3520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CCTV mulus di browser</a:t>
            </a:r>
            <a:endParaRPr lang="en-US" sz="1400" dirty="0"/>
          </a:p>
          <a:p>
            <a:pPr indent="0" marL="0">
              <a:lnSpc>
                <a:spcPct val="103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meski inferensi berat — karena tampilan tak menunggu deteksi.</a:t>
            </a:r>
            <a:endParaRPr lang="en-US" sz="1400" dirty="0"/>
          </a:p>
          <a:p>
            <a:pPr indent="0" marL="0">
              <a:lnSpc>
                <a:spcPct val="103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16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30 FPS</a:t>
            </a:r>
            <a:endParaRPr lang="en-US" sz="14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IMGSZ 320 (CPU) — cukup untuk stream live.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Object Counter  ·  Final Project Computer Vision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400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STREAMING REAL-TIME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WebSocket: /ws — push frame ke dashboard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02920" cy="54864"/>
          </a:xfrm>
          <a:prstGeom prst="rect">
            <a:avLst/>
          </a:prstGeom>
          <a:solidFill>
            <a:srgbClr val="16B7C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943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WebSocket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Koneksi dua arah yang persisten di atas satu TCP — beda dengan HTTP yang sekali minta–balas lalu putus.</a:t>
            </a:r>
            <a:endParaRPr lang="en-US" sz="1250" dirty="0"/>
          </a:p>
          <a:p>
            <a:pPr indent="0" marL="0">
              <a:lnSpc>
                <a:spcPct val="104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dipakai di sini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MENDORONG (push) frame CCTV beranotasi ke browser begitu ada frame baru — tanpa browser polling berulang → real-time, latensi rendah.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Hemat: tiap frame diberi nomor urut frame_seq; WS hanya mengirim JPEG saat frame_seq berubah → tanpa duplikat, hemat bandwidth.</a:t>
            </a:r>
            <a:endParaRPr lang="en-US" sz="1250" dirty="0"/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menerima bytes JPEG → digambar ke &lt;canvas&gt;. (MJPEG /video_feed disediakan sebagai fallback untuk &lt;img&gt;.)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766560" y="1645920"/>
            <a:ext cx="4846320" cy="3246120"/>
          </a:xfrm>
          <a:prstGeom prst="roundRect">
            <a:avLst>
              <a:gd name="adj" fmla="val 2535"/>
            </a:avLst>
          </a:prstGeom>
          <a:solidFill>
            <a:srgbClr val="0E1B2B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0" y="18105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B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WebSocket handler  ·  api.py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040880" y="2148840"/>
            <a:ext cx="4389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@app.websocket("/ws")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ws_feed(ws):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ws.accept()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last_seq = -1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True: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(live.frame_seq != last_seq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and live.latest_jpeg):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last_seq = live.frame_seq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await ws.send_bytes(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live.latest_jpeg)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await asyncio.sleep(0.01)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Alur:  live.py (encode JPEG + frame_seq++)   →   /ws (kirim hanya frame baru)   →   browser &lt;canvas&gt;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Object Counter  ·  Final Project Computer Vision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400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PENYIMPANAN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Database: SQLAlchemy (PostgreSQL / SQLite)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02920" cy="54864"/>
          </a:xfrm>
          <a:prstGeom prst="rect">
            <a:avLst/>
          </a:prstGeom>
          <a:solidFill>
            <a:srgbClr val="16B7C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Skema tabel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6400800" cy="1143000"/>
          </a:xfrm>
          <a:prstGeom prst="roundRect">
            <a:avLst>
              <a:gd name="adj" fmla="val 7200"/>
            </a:avLst>
          </a:prstGeom>
          <a:solidFill>
            <a:srgbClr val="0E1B2B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17627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sessions ( id, source, started_at, finished_at, total 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54203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count_events ( id, session_id, waktu, kelas,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arah_dari, arah_ke, track_id, source 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42900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database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untuk produksi; SQLite otomatis bila tanpa setup.</a:t>
            </a:r>
            <a:endParaRPr lang="en-US" sz="1250" dirty="0"/>
          </a:p>
          <a:p>
            <a:pPr indent="0" marL="0">
              <a:lnSpc>
                <a:spcPct val="103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Penulisan via antrian batch di thread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event tidak memblok deteksi; error dilog lalu dilewati.</a:t>
            </a:r>
            <a:endParaRPr lang="en-US" sz="1250" dirty="0"/>
          </a:p>
          <a:p>
            <a:pPr indent="0" marL="0">
              <a:lnSpc>
                <a:spcPct val="103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Agregasi per jam</a:t>
            </a:r>
            <a:endParaRPr lang="en-US" sz="1250" dirty="0"/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date_trunc('hour', waktu) — Postgres / strftime — SQLite.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0" y="2011680"/>
            <a:ext cx="4297680" cy="3566160"/>
          </a:xfrm>
          <a:prstGeom prst="roundRect">
            <a:avLst>
              <a:gd name="adj" fmla="val 2308"/>
            </a:avLst>
          </a:prstGeom>
          <a:solidFill>
            <a:srgbClr val="F2F5F8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89520" y="2194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Contoh query laporan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89520" y="260604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E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kelas, arah_dari, arah_ke,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E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COUNT(*) AS jumlah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E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count_events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E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kelas, arah_dari, arah_ke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E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jumlah DESC;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E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date_trunc('hour', waktu) jam,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E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COUNT(*) FROM count_events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E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jam ORDER BY jam;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Object Counter  ·  Final Project Computer Vision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400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&amp; docker-compose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02920" cy="54864"/>
          </a:xfrm>
          <a:prstGeom prst="rect">
            <a:avLst/>
          </a:prstGeom>
          <a:solidFill>
            <a:srgbClr val="16B7C4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0E1B2B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2103120"/>
            <a:ext cx="30723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Service: app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+ YOLOv8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(uvicorn :8000)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13283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3840480"/>
            <a:ext cx="3072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Service: db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PostgreSQL 16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(volume pgdata)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68880" y="3566160"/>
            <a:ext cx="0" cy="274320"/>
          </a:xfrm>
          <a:prstGeom prst="line">
            <a:avLst/>
          </a:prstGeom>
          <a:noFill/>
          <a:ln w="25400">
            <a:solidFill>
              <a:srgbClr val="64778A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514600" y="35844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7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DATABASE_URL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+ depends_on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pgdata → data persisten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env: VIDEO_SOURCE, MODEL, CONF, REFERER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— jalan sama di mesin mana pun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0" y="4160520"/>
            <a:ext cx="6949440" cy="960120"/>
          </a:xfrm>
          <a:prstGeom prst="roundRect">
            <a:avLst>
              <a:gd name="adj" fmla="val 8571"/>
            </a:avLst>
          </a:prstGeom>
          <a:solidFill>
            <a:srgbClr val="0E1B2B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416052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up --build      →  http://localhost:8000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5669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perintah → app + database hidup. Siap diangkat ke Kubernetes / GCP.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Object Counter  ·  Final Project Computer Vision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400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SUMBER VIDEO &amp; TANTANGAN NYATA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Menembus CCTV ATCS yang ber-anti-bot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02920" cy="54864"/>
          </a:xfrm>
          <a:prstGeom prst="rect">
            <a:avLst/>
          </a:prstGeom>
          <a:solidFill>
            <a:srgbClr val="16B7C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didukung: </a:t>
            </a:r>
            <a:pPr indent="0" marL="0">
              <a:buNone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· webcam · RTSP · HLS ATCS Dishub · YouTube (yt-dlp).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286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C2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ATCS Bandung — terbuka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mediamtx membalas .m3u8 langsung → arahkan ke URL aslinya, tanpa trik.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214884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2286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ATCS Banjarmasin — anti-bot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6517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BunkerWeb menuntut proof-of-work SHA-256 di JavaScript — OpenCV/ffmpeg tak bisa menjalankannya.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11064240" cy="1783080"/>
          </a:xfrm>
          <a:prstGeom prst="roundRect">
            <a:avLst>
              <a:gd name="adj" fmla="val 4615"/>
            </a:avLst>
          </a:prstGeom>
          <a:solidFill>
            <a:srgbClr val="0E1B2B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Solusi — atcs_proxy.py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343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 Menyelesaikan proof-of-work otomatis (cari nonce hingga sha256(salt+nonce) diawali 0000).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 Menyimpan cookie sesi &amp; menyelesaikan ulang otomatis saat kedaluwarsa.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 Meneruskan playlist + tiap segmen ke http://127.0.0.1 — hanya pustaka standar Python.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Object Counter  ·  Final Project Computer Vision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400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APLIKASI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live — http://localhost:8000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02920" cy="54864"/>
          </a:xfrm>
          <a:prstGeom prst="rect">
            <a:avLst/>
          </a:prstGeom>
          <a:solidFill>
            <a:srgbClr val="16B7C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</a:t>
            </a:r>
            <a:endParaRPr lang="en-US" sz="1200" dirty="0"/>
          </a:p>
        </p:txBody>
      </p:sp>
      <p:pic>
        <p:nvPicPr>
          <p:cNvPr id="6" name="Image 0" descr="assets/cct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48640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783080"/>
            <a:ext cx="5486400" cy="2743200"/>
          </a:xfrm>
          <a:prstGeom prst="rect">
            <a:avLst/>
          </a:prstGeom>
          <a:ln w="12700">
            <a:solidFill>
              <a:srgbClr val="DCE3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5508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55080" y="1874520"/>
            <a:ext cx="2606040" cy="777240"/>
          </a:xfrm>
          <a:prstGeom prst="roundRect">
            <a:avLst>
              <a:gd name="adj" fmla="val 10588"/>
            </a:avLst>
          </a:prstGeom>
          <a:solidFill>
            <a:srgbClr val="F2F5F8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37960" y="1947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537960" y="21671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9098280" y="1874520"/>
            <a:ext cx="2606040" cy="777240"/>
          </a:xfrm>
          <a:prstGeom prst="roundRect">
            <a:avLst>
              <a:gd name="adj" fmla="val 10588"/>
            </a:avLst>
          </a:prstGeom>
          <a:solidFill>
            <a:srgbClr val="F2F5F8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281160" y="1947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281160" y="21671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C2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355080" y="2788920"/>
            <a:ext cx="2606040" cy="777240"/>
          </a:xfrm>
          <a:prstGeom prst="roundRect">
            <a:avLst>
              <a:gd name="adj" fmla="val 10588"/>
            </a:avLst>
          </a:prstGeom>
          <a:solidFill>
            <a:srgbClr val="F2F5F8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537960" y="2862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3796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9098280" y="2788920"/>
            <a:ext cx="2606040" cy="777240"/>
          </a:xfrm>
          <a:prstGeom prst="roundRect">
            <a:avLst>
              <a:gd name="adj" fmla="val 10588"/>
            </a:avLst>
          </a:prstGeom>
          <a:solidFill>
            <a:srgbClr val="F2F5F8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281160" y="2862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Truk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28116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5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6355080" y="3703320"/>
            <a:ext cx="5349240" cy="822960"/>
          </a:xfrm>
          <a:prstGeom prst="roundRect">
            <a:avLst>
              <a:gd name="adj" fmla="val 10000"/>
            </a:avLst>
          </a:prstGeom>
          <a:solidFill>
            <a:srgbClr val="E6F1FB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537960" y="3776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537960" y="40050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5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8595360" y="3703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kendaraan terhitung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Jumlah per jam (per tipe objek)</a:t>
            </a:r>
            <a:endParaRPr lang="en-US" sz="125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548640" y="5029200"/>
          <a:ext cx="1106424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 23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Object Counter  ·  Final Project Computer Vision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430000" y="6400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Aspek teknis &amp; manajemen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02920" cy="54864"/>
          </a:xfrm>
          <a:prstGeom prst="rect">
            <a:avLst/>
          </a:prstGeom>
          <a:solidFill>
            <a:srgbClr val="16B7C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548640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Aspek teknis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hitung vs manual: 1 − |pred − manual| / manual.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rata-rata selisih pada beberapa klip uji.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/ precision / recall dari training.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inferensi (klaim real-time).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9496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E1B2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Aspek manajemen &amp; keterbatasan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37744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modular (OOP) &amp; reproducible (Docker).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Keterbatasan: malam &amp; cuaca buruk.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 &amp; objek sangat kecil/jauh.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Kendaraan membelok (arah dominan kurang presisi).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 harus statis.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Object Counter  ·  Final Project Computer Vision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400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REFLEKSI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Kekurangan &amp; yang bisa diperbaiki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02920" cy="54864"/>
          </a:xfrm>
          <a:prstGeom prst="rect">
            <a:avLst/>
          </a:prstGeom>
          <a:solidFill>
            <a:srgbClr val="16B7C4"/>
          </a:solidFill>
          <a:ln/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5778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Kekurangan saat ini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Yang bisa diperbaiki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Akurasi rendah di malam / CCTV gelap (model dilatih data siang).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 dengan frame ATCS malam (data domain nyata).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data timpang -&gt; recall motor &amp; objek kecil terbatas (~0.55).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Seimbangkan / oversample data motor; tambah anotasi.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Arah "dominan" kurang presisi untuk kendaraan yang membelok.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Garis / zona per lengan simpang (belok kiri / kanan / lurus).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Potensi double-count saat occlusion atau ID tracking putus.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Tracker re-ID lebih kuat + aturan anti-duplikat.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SAHI sliced inference berat di CPU -&gt; belum dipakai pada live.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ringan (ONNX / TensorRT) atau GPU agar SAHI live.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Evaluasi hitung baru kualitatif; deployment masih lokal.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 evaluasi MAE + dataset uji; deploy ke GCP / Kubernetes.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Object Counter  ·  Final Project Computer Vision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400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B7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457200" cy="146304"/>
          </a:xfrm>
          <a:prstGeom prst="rect">
            <a:avLst/>
          </a:prstGeom>
          <a:solidFill>
            <a:srgbClr val="37C26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365760"/>
            <a:ext cx="146304" cy="457200"/>
          </a:xfrm>
          <a:prstGeom prst="rect">
            <a:avLst/>
          </a:prstGeom>
          <a:solidFill>
            <a:srgbClr val="37C26B"/>
          </a:solidFill>
          <a:ln/>
        </p:spPr>
      </p:sp>
      <p:sp>
        <p:nvSpPr>
          <p:cNvPr id="4" name="Shape 2"/>
          <p:cNvSpPr/>
          <p:nvPr/>
        </p:nvSpPr>
        <p:spPr>
          <a:xfrm>
            <a:off x="11323015" y="6345936"/>
            <a:ext cx="457200" cy="146304"/>
          </a:xfrm>
          <a:prstGeom prst="rect">
            <a:avLst/>
          </a:prstGeom>
          <a:solidFill>
            <a:srgbClr val="37C26B"/>
          </a:solidFill>
          <a:ln/>
        </p:spPr>
      </p:sp>
      <p:sp>
        <p:nvSpPr>
          <p:cNvPr id="5" name="Shape 3"/>
          <p:cNvSpPr/>
          <p:nvPr/>
        </p:nvSpPr>
        <p:spPr>
          <a:xfrm>
            <a:off x="11633911" y="6035040"/>
            <a:ext cx="146304" cy="457200"/>
          </a:xfrm>
          <a:prstGeom prst="rect">
            <a:avLst/>
          </a:prstGeom>
          <a:solidFill>
            <a:srgbClr val="37C26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822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KESIMPULAN &amp; PENGEMBANGAN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Dari model deteksi ke aplikasi siap pakai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Melatih YOLOv8 dengan SAHI → membungkusnya jadi aplikasi real-time: deteksi + arah → FastAPI → database → dashboard live → Docker.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283464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13283F"/>
          </a:solidFill>
          <a:ln w="12700">
            <a:solidFill>
              <a:srgbClr val="1E36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34640"/>
            <a:ext cx="73152" cy="960120"/>
          </a:xfrm>
          <a:prstGeom prst="rect">
            <a:avLst/>
          </a:prstGeom>
          <a:solidFill>
            <a:srgbClr val="16B7C4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9443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data malam/CCTV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32918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Tingkatkan akurasi pada kondisi nyata.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283464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13283F"/>
          </a:solidFill>
          <a:ln w="12700">
            <a:solidFill>
              <a:srgbClr val="1E36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2834640"/>
            <a:ext cx="73152" cy="9601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9443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Garis/zona per lengan simpang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32918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belok kiri/kanan/lurus akurat.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397764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13283F"/>
          </a:solidFill>
          <a:ln w="12700">
            <a:solidFill>
              <a:srgbClr val="1E36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977640"/>
            <a:ext cx="73152" cy="960120"/>
          </a:xfrm>
          <a:prstGeom prst="rect">
            <a:avLst/>
          </a:prstGeom>
          <a:solidFill>
            <a:srgbClr val="16B7C4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40873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Estimasi kecepatan &amp; kepadatan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44348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metrik lalu lintas per menit.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397764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13283F"/>
          </a:solidFill>
          <a:ln w="12700">
            <a:solidFill>
              <a:srgbClr val="1E36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3977640"/>
            <a:ext cx="73152" cy="9601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40873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ke GCP / Kubernetes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37960" y="44348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Naikkan dari compose ke cloud.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553212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532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Hadi Halim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0" y="553212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16B7C4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0" y="5532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Michael Salabintago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040880" y="5532120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30" name="Text 28"/>
          <p:cNvSpPr/>
          <p:nvPr/>
        </p:nvSpPr>
        <p:spPr>
          <a:xfrm>
            <a:off x="7040880" y="5532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Yosep Setiawan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724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Terima kasih.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&amp; Object Counter</dc:title>
  <dc:subject>PptxGenJS Presentation</dc:subject>
  <dc:creator>Hadi Halim, Michael Salabintago, Yosep Setiawan</dc:creator>
  <cp:lastModifiedBy>Hadi Halim, Michael Salabintago, Yosep Setiawan</cp:lastModifiedBy>
  <cp:revision>1</cp:revision>
  <dcterms:created xsi:type="dcterms:W3CDTF">2026-06-11T21:05:23Z</dcterms:created>
  <dcterms:modified xsi:type="dcterms:W3CDTF">2026-06-11T21:05:23Z</dcterms:modified>
</cp:coreProperties>
</file>